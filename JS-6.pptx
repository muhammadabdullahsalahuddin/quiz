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sldIdLst>
    <p:sldId id="256" r:id="rId5"/>
    <p:sldId id="284" r:id="rId6"/>
    <p:sldId id="257" r:id="rId7"/>
    <p:sldId id="281" r:id="rId8"/>
    <p:sldId id="282"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3" r:id="rId33"/>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5"/>
    <p:restoredTop sz="82632"/>
  </p:normalViewPr>
  <p:slideViewPr>
    <p:cSldViewPr snapToGrid="0">
      <p:cViewPr varScale="1">
        <p:scale>
          <a:sx n="94" d="100"/>
          <a:sy n="94" d="100"/>
        </p:scale>
        <p:origin x="127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4C9D1B-1CED-1D48-BD9A-42E3D22B980F}" type="datetimeFigureOut">
              <a:rPr lang="en-PK" smtClean="0"/>
              <a:t>04/14/2026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0BD8B-9627-B14F-9DA9-E7C316FFBFA3}" type="slidenum">
              <a:rPr lang="en-PK" smtClean="0"/>
              <a:t>‹#›</a:t>
            </a:fld>
            <a:endParaRPr lang="en-PK"/>
          </a:p>
        </p:txBody>
      </p:sp>
    </p:spTree>
    <p:extLst>
      <p:ext uri="{BB962C8B-B14F-4D97-AF65-F5344CB8AC3E}">
        <p14:creationId xmlns:p14="http://schemas.microsoft.com/office/powerpoint/2010/main" val="4056028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a:t>
            </a:r>
            <a:r>
              <a:rPr lang="en-PK" dirty="0"/>
              <a:t>ll style properties in css are available with the same names without hiphen and with camel casing, for example: font-size in css is fontSize in JS.</a:t>
            </a:r>
          </a:p>
        </p:txBody>
      </p:sp>
      <p:sp>
        <p:nvSpPr>
          <p:cNvPr id="4" name="Slide Number Placeholder 3"/>
          <p:cNvSpPr>
            <a:spLocks noGrp="1"/>
          </p:cNvSpPr>
          <p:nvPr>
            <p:ph type="sldNum" sz="quarter" idx="5"/>
          </p:nvPr>
        </p:nvSpPr>
        <p:spPr/>
        <p:txBody>
          <a:bodyPr/>
          <a:lstStyle/>
          <a:p>
            <a:fld id="{0A30BD8B-9627-B14F-9DA9-E7C316FFBFA3}" type="slidenum">
              <a:rPr lang="en-PK" smtClean="0"/>
              <a:t>11</a:t>
            </a:fld>
            <a:endParaRPr lang="en-PK"/>
          </a:p>
        </p:txBody>
      </p:sp>
    </p:spTree>
    <p:extLst>
      <p:ext uri="{BB962C8B-B14F-4D97-AF65-F5344CB8AC3E}">
        <p14:creationId xmlns:p14="http://schemas.microsoft.com/office/powerpoint/2010/main" val="1105076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u="none" strike="noStrike" dirty="0">
                <a:solidFill>
                  <a:srgbClr val="000000"/>
                </a:solidFill>
                <a:effectLst/>
                <a:latin typeface="-webkit-standard"/>
              </a:rPr>
              <a:t>JavaScript is </a:t>
            </a:r>
            <a:r>
              <a:rPr lang="en-GB" b="1" i="0" u="none" strike="noStrike" dirty="0">
                <a:solidFill>
                  <a:srgbClr val="000000"/>
                </a:solidFill>
                <a:effectLst/>
              </a:rPr>
              <a:t>single-threaded</a:t>
            </a:r>
            <a:r>
              <a:rPr lang="en-GB" b="0" i="0" u="none" strike="noStrike" dirty="0">
                <a:solidFill>
                  <a:srgbClr val="000000"/>
                </a:solidFill>
                <a:effectLst/>
                <a:latin typeface="-webkit-standard"/>
              </a:rPr>
              <a:t>, so it can do only </a:t>
            </a:r>
            <a:r>
              <a:rPr lang="en-GB" b="0" i="1" u="none" strike="noStrike" dirty="0">
                <a:solidFill>
                  <a:srgbClr val="000000"/>
                </a:solidFill>
                <a:effectLst/>
              </a:rPr>
              <a:t>one thing at a time</a:t>
            </a:r>
            <a:r>
              <a:rPr lang="en-GB" b="0" i="0" u="none" strike="noStrike" dirty="0">
                <a:solidFill>
                  <a:srgbClr val="000000"/>
                </a:solidFill>
                <a:effectLst/>
                <a:latin typeface="-webkit-standard"/>
              </a:rPr>
              <a:t>.</a:t>
            </a:r>
            <a:br>
              <a:rPr lang="en-GB" dirty="0"/>
            </a:br>
            <a:r>
              <a:rPr lang="en-GB" b="0" i="0" u="none" strike="noStrike" dirty="0">
                <a:solidFill>
                  <a:srgbClr val="000000"/>
                </a:solidFill>
                <a:effectLst/>
                <a:latin typeface="-webkit-standard"/>
              </a:rPr>
              <a:t>The </a:t>
            </a:r>
            <a:r>
              <a:rPr lang="en-GB" b="1" i="0" u="none" strike="noStrike" dirty="0">
                <a:solidFill>
                  <a:srgbClr val="000000"/>
                </a:solidFill>
                <a:effectLst/>
              </a:rPr>
              <a:t>event loop</a:t>
            </a:r>
            <a:r>
              <a:rPr lang="en-GB" b="0" i="0" u="none" strike="noStrike" dirty="0">
                <a:solidFill>
                  <a:srgbClr val="000000"/>
                </a:solidFill>
                <a:effectLst/>
                <a:latin typeface="-webkit-standard"/>
              </a:rPr>
              <a:t> decides </a:t>
            </a:r>
            <a:r>
              <a:rPr lang="en-GB" b="0" i="1" u="none" strike="noStrike" dirty="0">
                <a:solidFill>
                  <a:srgbClr val="000000"/>
                </a:solidFill>
                <a:effectLst/>
              </a:rPr>
              <a:t>which</a:t>
            </a:r>
            <a:r>
              <a:rPr lang="en-GB" b="0" i="0" u="none" strike="noStrike" dirty="0">
                <a:solidFill>
                  <a:srgbClr val="000000"/>
                </a:solidFill>
                <a:effectLst/>
                <a:latin typeface="-webkit-standard"/>
              </a:rPr>
              <a:t> task should run next.</a:t>
            </a:r>
            <a:endParaRPr lang="en-PK" dirty="0"/>
          </a:p>
          <a:p>
            <a:r>
              <a:rPr lang="en-PK" dirty="0"/>
              <a:t>The normal execution is single threaded and in case a user presses 2-3 buttons one after the another, then those are placed in the event queue. These are excuted on FIFO principle. The event loop is performing these functions one after another. </a:t>
            </a:r>
          </a:p>
          <a:p>
            <a:r>
              <a:rPr lang="en-GB" dirty="0"/>
              <a:t>I</a:t>
            </a:r>
            <a:r>
              <a:rPr lang="en-PK" dirty="0"/>
              <a:t>f within an event queue, a single thread calls another function, then this kind of nested function is sent to call stack, and the first function waits until the called function is complete. In asynchronous functions, the async request is separated</a:t>
            </a:r>
          </a:p>
        </p:txBody>
      </p:sp>
      <p:sp>
        <p:nvSpPr>
          <p:cNvPr id="4" name="Slide Number Placeholder 3"/>
          <p:cNvSpPr>
            <a:spLocks noGrp="1"/>
          </p:cNvSpPr>
          <p:nvPr>
            <p:ph type="sldNum" sz="quarter" idx="5"/>
          </p:nvPr>
        </p:nvSpPr>
        <p:spPr/>
        <p:txBody>
          <a:bodyPr/>
          <a:lstStyle/>
          <a:p>
            <a:fld id="{0A30BD8B-9627-B14F-9DA9-E7C316FFBFA3}" type="slidenum">
              <a:rPr lang="en-PK" smtClean="0"/>
              <a:t>29</a:t>
            </a:fld>
            <a:endParaRPr lang="en-PK"/>
          </a:p>
        </p:txBody>
      </p:sp>
    </p:spTree>
    <p:extLst>
      <p:ext uri="{BB962C8B-B14F-4D97-AF65-F5344CB8AC3E}">
        <p14:creationId xmlns:p14="http://schemas.microsoft.com/office/powerpoint/2010/main" val="3543446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AB70C-CD7F-7758-94F8-D5B9E63AA04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35487688-A26D-851C-D0FE-9DE5C00DE6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6EB347D8-E502-F006-EA3C-66ADDF0F8DF2}"/>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5" name="Footer Placeholder 4">
            <a:extLst>
              <a:ext uri="{FF2B5EF4-FFF2-40B4-BE49-F238E27FC236}">
                <a16:creationId xmlns:a16="http://schemas.microsoft.com/office/drawing/2014/main" id="{55600F97-C448-3D69-A80E-A5688EE70FC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FFC7772-5C4D-60B1-C3C5-204F75A14254}"/>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2051576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0CF51-35D6-E13E-D537-951049785A7C}"/>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F845DBFD-1746-295E-D5EA-4303A1871DB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27603BBB-E69F-F0F8-5E40-851AF79655ED}"/>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5" name="Footer Placeholder 4">
            <a:extLst>
              <a:ext uri="{FF2B5EF4-FFF2-40B4-BE49-F238E27FC236}">
                <a16:creationId xmlns:a16="http://schemas.microsoft.com/office/drawing/2014/main" id="{E9797D24-D3FF-D350-75AC-50B6888F753E}"/>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4A8930F2-209E-CC9D-F2BA-7202FF47B942}"/>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3346019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44D52-2BA9-79BB-67C0-B63EF8ED289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36AD2594-DA45-D0EB-9E24-C22477A188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23FD3A-5C4A-C64D-2402-2A0BC44E7D37}"/>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5" name="Footer Placeholder 4">
            <a:extLst>
              <a:ext uri="{FF2B5EF4-FFF2-40B4-BE49-F238E27FC236}">
                <a16:creationId xmlns:a16="http://schemas.microsoft.com/office/drawing/2014/main" id="{CD396016-FCD1-DAED-FF4C-B2C0AB481A6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FA975BDB-62BA-0531-012D-2994B4555D7B}"/>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17633712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E3BAD-9616-0543-84C1-5128375BC7CB}"/>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4449AA9A-4874-C0B3-D107-B692021B1D0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2F9AF722-4746-79F7-85BD-BD8403C39AB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04C9D3E6-EC99-8E8C-DE2C-9B79AC51CF71}"/>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6" name="Footer Placeholder 5">
            <a:extLst>
              <a:ext uri="{FF2B5EF4-FFF2-40B4-BE49-F238E27FC236}">
                <a16:creationId xmlns:a16="http://schemas.microsoft.com/office/drawing/2014/main" id="{DD962807-9E74-88B5-E0DF-10E8B9418C7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E8EB12E-9144-0BBE-B0DD-156881FA43C9}"/>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10293455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2DD3-CF82-A1EA-2DCD-9B43B7AFF748}"/>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19F56283-8599-BF6B-8610-A81DE5949B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D396CE4-95F4-EAD2-9980-AA522BA3EF4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A8CF1032-1648-67D8-1803-1EE2B866BE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C672E47-EC2A-FF5B-F901-027CC8BECB2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2290979A-241A-7909-E635-A96FA6E08CCF}"/>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8" name="Footer Placeholder 7">
            <a:extLst>
              <a:ext uri="{FF2B5EF4-FFF2-40B4-BE49-F238E27FC236}">
                <a16:creationId xmlns:a16="http://schemas.microsoft.com/office/drawing/2014/main" id="{27B2F7B8-218A-1535-B07D-61A60C83C89D}"/>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8BE63157-D667-86C2-15B0-D0B5BF55572F}"/>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1731370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B3987-3A1C-9956-6B85-516142336B14}"/>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6DD2DA4D-01B6-4CD8-A81E-1604125B62D6}"/>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4" name="Footer Placeholder 3">
            <a:extLst>
              <a:ext uri="{FF2B5EF4-FFF2-40B4-BE49-F238E27FC236}">
                <a16:creationId xmlns:a16="http://schemas.microsoft.com/office/drawing/2014/main" id="{109BF258-3924-0F0B-71B4-AAA6096CFAC8}"/>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6D7D0D1A-4574-0FE8-2FE2-949DF434C7D8}"/>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1450812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F8F652-30B2-86EC-21A4-589CABAC5B66}"/>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3" name="Footer Placeholder 2">
            <a:extLst>
              <a:ext uri="{FF2B5EF4-FFF2-40B4-BE49-F238E27FC236}">
                <a16:creationId xmlns:a16="http://schemas.microsoft.com/office/drawing/2014/main" id="{692DBD73-0D73-CC5A-5530-A3D51F62EB82}"/>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12F67918-FFCB-9FF7-8489-EB9A32E44535}"/>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811221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9CC72-86D6-DB34-2FD9-E9CCF1D2B30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3D9F3D21-C086-6618-5CB0-A1F3779425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E990FA66-F83B-4DE2-B1D9-AD8DE98C73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A9767A5-12E3-4EBD-823E-2CFBD5F1D67C}"/>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6" name="Footer Placeholder 5">
            <a:extLst>
              <a:ext uri="{FF2B5EF4-FFF2-40B4-BE49-F238E27FC236}">
                <a16:creationId xmlns:a16="http://schemas.microsoft.com/office/drawing/2014/main" id="{FB95AD78-8CE6-A182-29B4-F32B71AB857F}"/>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4EF2C204-9ED3-7091-A5A8-D703481317B9}"/>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2200874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AE9E0-D3D0-0B87-DE92-AFA6EFD164F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BD37FB2A-8EF1-8258-1027-EE86A9E6D1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000CCE2-4FE0-3E48-0A26-5EB2F4C1BA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3E9A20-6AB2-9871-78A4-6BEE9907F713}"/>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6" name="Footer Placeholder 5">
            <a:extLst>
              <a:ext uri="{FF2B5EF4-FFF2-40B4-BE49-F238E27FC236}">
                <a16:creationId xmlns:a16="http://schemas.microsoft.com/office/drawing/2014/main" id="{5F4DB642-4D1A-C651-1205-A83BE23FF6BA}"/>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098FC253-97FD-1250-C2B2-D5CD7FA19B45}"/>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110901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83E0E-26A9-DA12-6EE3-64B36307586F}"/>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5C965E50-CF2A-78F1-8137-34757A40C76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21A849A6-195B-C3D7-1544-A635F61E2E53}"/>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5" name="Footer Placeholder 4">
            <a:extLst>
              <a:ext uri="{FF2B5EF4-FFF2-40B4-BE49-F238E27FC236}">
                <a16:creationId xmlns:a16="http://schemas.microsoft.com/office/drawing/2014/main" id="{C51672D4-079D-356C-657C-D3A2399D849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5B711C3-0F42-16D2-89D1-5B318841039E}"/>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2069371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1447CD-18FF-F550-B3E4-AD6C29FA7A4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6389CA4E-9D45-C608-2EEB-18FF7FF19F8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6D2D17D2-C15C-C583-5C76-B9DFDFFEF94B}"/>
              </a:ext>
            </a:extLst>
          </p:cNvPr>
          <p:cNvSpPr>
            <a:spLocks noGrp="1"/>
          </p:cNvSpPr>
          <p:nvPr>
            <p:ph type="dt" sz="half" idx="10"/>
          </p:nvPr>
        </p:nvSpPr>
        <p:spPr/>
        <p:txBody>
          <a:bodyPr/>
          <a:lstStyle/>
          <a:p>
            <a:fld id="{8E261905-7BB6-F746-9AE1-B8B247DCBFC2}" type="datetimeFigureOut">
              <a:rPr lang="en-PK" smtClean="0"/>
              <a:t>04/14/2026</a:t>
            </a:fld>
            <a:endParaRPr lang="en-PK"/>
          </a:p>
        </p:txBody>
      </p:sp>
      <p:sp>
        <p:nvSpPr>
          <p:cNvPr id="5" name="Footer Placeholder 4">
            <a:extLst>
              <a:ext uri="{FF2B5EF4-FFF2-40B4-BE49-F238E27FC236}">
                <a16:creationId xmlns:a16="http://schemas.microsoft.com/office/drawing/2014/main" id="{7088CAF2-39D2-8672-6287-FD54940031B4}"/>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4DC330D-BD6E-421E-031A-5685DBC15552}"/>
              </a:ext>
            </a:extLst>
          </p:cNvPr>
          <p:cNvSpPr>
            <a:spLocks noGrp="1"/>
          </p:cNvSpPr>
          <p:nvPr>
            <p:ph type="sldNum" sz="quarter" idx="12"/>
          </p:nvPr>
        </p:nvSpPr>
        <p:spPr/>
        <p:txBody>
          <a:bodyPr/>
          <a:lstStyle/>
          <a:p>
            <a:fld id="{2A336D4E-8CD4-9A45-B6E8-AEA5AE27C58F}" type="slidenum">
              <a:rPr lang="en-PK" smtClean="0"/>
              <a:t>‹#›</a:t>
            </a:fld>
            <a:endParaRPr lang="en-PK"/>
          </a:p>
        </p:txBody>
      </p:sp>
    </p:spTree>
    <p:extLst>
      <p:ext uri="{BB962C8B-B14F-4D97-AF65-F5344CB8AC3E}">
        <p14:creationId xmlns:p14="http://schemas.microsoft.com/office/powerpoint/2010/main" val="3758461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64543E-6760-6F10-3139-285C632E69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09382A28-8F7D-1AFC-2661-A49574C659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B4BD29AA-66F9-2217-1E0A-F753C6C86C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61905-7BB6-F746-9AE1-B8B247DCBFC2}" type="datetimeFigureOut">
              <a:rPr lang="en-PK" smtClean="0"/>
              <a:t>04/14/2026</a:t>
            </a:fld>
            <a:endParaRPr lang="en-PK"/>
          </a:p>
        </p:txBody>
      </p:sp>
      <p:sp>
        <p:nvSpPr>
          <p:cNvPr id="5" name="Footer Placeholder 4">
            <a:extLst>
              <a:ext uri="{FF2B5EF4-FFF2-40B4-BE49-F238E27FC236}">
                <a16:creationId xmlns:a16="http://schemas.microsoft.com/office/drawing/2014/main" id="{64E5CE61-8A56-81D4-4399-9A51A80B18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699E04E7-F147-E140-510C-429C29027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336D4E-8CD4-9A45-B6E8-AEA5AE27C58F}" type="slidenum">
              <a:rPr lang="en-PK" smtClean="0"/>
              <a:t>‹#›</a:t>
            </a:fld>
            <a:endParaRPr lang="en-PK"/>
          </a:p>
        </p:txBody>
      </p:sp>
    </p:spTree>
    <p:extLst>
      <p:ext uri="{BB962C8B-B14F-4D97-AF65-F5344CB8AC3E}">
        <p14:creationId xmlns:p14="http://schemas.microsoft.com/office/powerpoint/2010/main" val="29455339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44456-F49C-EF1E-1B31-A6DB8D95310C}"/>
              </a:ext>
            </a:extLst>
          </p:cNvPr>
          <p:cNvSpPr>
            <a:spLocks noGrp="1"/>
          </p:cNvSpPr>
          <p:nvPr>
            <p:ph type="ctrTitle"/>
          </p:nvPr>
        </p:nvSpPr>
        <p:spPr/>
        <p:txBody>
          <a:bodyPr/>
          <a:lstStyle/>
          <a:p>
            <a:r>
              <a:rPr lang="en-PK" dirty="0"/>
              <a:t>Javascript</a:t>
            </a:r>
          </a:p>
        </p:txBody>
      </p:sp>
      <p:sp>
        <p:nvSpPr>
          <p:cNvPr id="3" name="Subtitle 2">
            <a:extLst>
              <a:ext uri="{FF2B5EF4-FFF2-40B4-BE49-F238E27FC236}">
                <a16:creationId xmlns:a16="http://schemas.microsoft.com/office/drawing/2014/main" id="{CB659330-E76E-524B-155B-CFAA4AAD2185}"/>
              </a:ext>
            </a:extLst>
          </p:cNvPr>
          <p:cNvSpPr>
            <a:spLocks noGrp="1"/>
          </p:cNvSpPr>
          <p:nvPr>
            <p:ph type="subTitle" idx="1"/>
          </p:nvPr>
        </p:nvSpPr>
        <p:spPr/>
        <p:txBody>
          <a:bodyPr/>
          <a:lstStyle/>
          <a:p>
            <a:r>
              <a:rPr lang="en-PK" dirty="0"/>
              <a:t>DOM – Document Object Model</a:t>
            </a:r>
          </a:p>
          <a:p>
            <a:r>
              <a:rPr lang="en-PK" dirty="0"/>
              <a:t>Events</a:t>
            </a:r>
          </a:p>
        </p:txBody>
      </p:sp>
    </p:spTree>
    <p:extLst>
      <p:ext uri="{BB962C8B-B14F-4D97-AF65-F5344CB8AC3E}">
        <p14:creationId xmlns:p14="http://schemas.microsoft.com/office/powerpoint/2010/main" val="31274402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36905-1D75-F108-8DA7-DE386375256D}"/>
              </a:ext>
            </a:extLst>
          </p:cNvPr>
          <p:cNvSpPr>
            <a:spLocks noGrp="1"/>
          </p:cNvSpPr>
          <p:nvPr>
            <p:ph type="title"/>
          </p:nvPr>
        </p:nvSpPr>
        <p:spPr/>
        <p:txBody>
          <a:bodyPr/>
          <a:lstStyle/>
          <a:p>
            <a:r>
              <a:rPr lang="en-PK" dirty="0"/>
              <a:t>BOM</a:t>
            </a:r>
          </a:p>
        </p:txBody>
      </p:sp>
      <p:sp>
        <p:nvSpPr>
          <p:cNvPr id="3" name="Content Placeholder 2">
            <a:extLst>
              <a:ext uri="{FF2B5EF4-FFF2-40B4-BE49-F238E27FC236}">
                <a16:creationId xmlns:a16="http://schemas.microsoft.com/office/drawing/2014/main" id="{6D497C82-EF17-F474-81E6-2F9895E5A3C3}"/>
              </a:ext>
            </a:extLst>
          </p:cNvPr>
          <p:cNvSpPr>
            <a:spLocks noGrp="1"/>
          </p:cNvSpPr>
          <p:nvPr>
            <p:ph idx="1"/>
          </p:nvPr>
        </p:nvSpPr>
        <p:spPr/>
        <p:txBody>
          <a:bodyPr/>
          <a:lstStyle/>
          <a:p>
            <a:r>
              <a:rPr lang="en-GB" b="1" i="0" u="none" strike="noStrike" dirty="0">
                <a:solidFill>
                  <a:srgbClr val="000000"/>
                </a:solidFill>
                <a:effectLst/>
              </a:rPr>
              <a:t>BOM</a:t>
            </a:r>
            <a:r>
              <a:rPr lang="en-GB" b="0" i="0" u="none" strike="noStrike" dirty="0">
                <a:solidFill>
                  <a:srgbClr val="000000"/>
                </a:solidFill>
                <a:effectLst/>
                <a:latin typeface="-webkit-standard"/>
              </a:rPr>
              <a:t> stands for </a:t>
            </a:r>
            <a:r>
              <a:rPr lang="en-GB" b="1" i="0" u="none" strike="noStrike" dirty="0">
                <a:solidFill>
                  <a:srgbClr val="000000"/>
                </a:solidFill>
                <a:effectLst/>
              </a:rPr>
              <a:t>Browser Object Model</a:t>
            </a:r>
            <a:r>
              <a:rPr lang="en-GB" b="0" i="0" u="none" strike="noStrike" dirty="0">
                <a:solidFill>
                  <a:srgbClr val="000000"/>
                </a:solidFill>
                <a:effectLst/>
                <a:latin typeface="-webkit-standard"/>
              </a:rPr>
              <a:t>, and it refers to the set of JavaScript objects provided by the browser to interact with the browser window and everything outside of the web page's content (the DOM). </a:t>
            </a:r>
          </a:p>
          <a:p>
            <a:r>
              <a:rPr lang="en-GB" b="0" i="0" u="none" strike="noStrike" dirty="0">
                <a:solidFill>
                  <a:srgbClr val="000000"/>
                </a:solidFill>
                <a:effectLst/>
                <a:latin typeface="-webkit-standard"/>
              </a:rPr>
              <a:t>While the </a:t>
            </a:r>
            <a:r>
              <a:rPr lang="en-GB" b="1" i="0" u="none" strike="noStrike" dirty="0">
                <a:solidFill>
                  <a:srgbClr val="000000"/>
                </a:solidFill>
                <a:effectLst/>
              </a:rPr>
              <a:t>DOM (Document Object Model)</a:t>
            </a:r>
            <a:r>
              <a:rPr lang="en-GB" b="0" i="0" u="none" strike="noStrike" dirty="0">
                <a:solidFill>
                  <a:srgbClr val="000000"/>
                </a:solidFill>
                <a:effectLst/>
                <a:latin typeface="-webkit-standard"/>
              </a:rPr>
              <a:t> deals with the structure and content of the web page, the BOM allows interaction with the browser environment itself.</a:t>
            </a:r>
            <a:endParaRPr lang="en-PK" dirty="0"/>
          </a:p>
        </p:txBody>
      </p:sp>
    </p:spTree>
    <p:extLst>
      <p:ext uri="{BB962C8B-B14F-4D97-AF65-F5344CB8AC3E}">
        <p14:creationId xmlns:p14="http://schemas.microsoft.com/office/powerpoint/2010/main" val="2489754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BD14C-0442-0D4F-0BFC-10575108B619}"/>
              </a:ext>
            </a:extLst>
          </p:cNvPr>
          <p:cNvSpPr>
            <a:spLocks noGrp="1"/>
          </p:cNvSpPr>
          <p:nvPr>
            <p:ph type="title"/>
          </p:nvPr>
        </p:nvSpPr>
        <p:spPr/>
        <p:txBody>
          <a:bodyPr/>
          <a:lstStyle/>
          <a:p>
            <a:r>
              <a:rPr lang="en-PK" dirty="0"/>
              <a:t>Window Object</a:t>
            </a:r>
          </a:p>
        </p:txBody>
      </p:sp>
      <p:sp>
        <p:nvSpPr>
          <p:cNvPr id="3" name="Content Placeholder 2">
            <a:extLst>
              <a:ext uri="{FF2B5EF4-FFF2-40B4-BE49-F238E27FC236}">
                <a16:creationId xmlns:a16="http://schemas.microsoft.com/office/drawing/2014/main" id="{8F7290CE-B053-37E9-4AD7-08AC8B430A5F}"/>
              </a:ext>
            </a:extLst>
          </p:cNvPr>
          <p:cNvSpPr>
            <a:spLocks noGrp="1"/>
          </p:cNvSpPr>
          <p:nvPr>
            <p:ph idx="1"/>
          </p:nvPr>
        </p:nvSpPr>
        <p:spPr/>
        <p:txBody>
          <a:bodyPr/>
          <a:lstStyle/>
          <a:p>
            <a:r>
              <a:rPr lang="en-GB" dirty="0"/>
              <a:t>T</a:t>
            </a:r>
            <a:r>
              <a:rPr lang="en-PK" dirty="0"/>
              <a:t>he window object represents an open window in a browser. </a:t>
            </a:r>
          </a:p>
          <a:p>
            <a:r>
              <a:rPr lang="en-GB" dirty="0"/>
              <a:t>I</a:t>
            </a:r>
            <a:r>
              <a:rPr lang="en-PK" dirty="0"/>
              <a:t>t is browser’s object (not Javavscript’s) and is automatically created by browser. </a:t>
            </a:r>
          </a:p>
          <a:p>
            <a:r>
              <a:rPr lang="en-GB" dirty="0"/>
              <a:t>I</a:t>
            </a:r>
            <a:r>
              <a:rPr lang="en-PK" dirty="0"/>
              <a:t>t is a global object with lots of properties and methods.</a:t>
            </a:r>
          </a:p>
        </p:txBody>
      </p:sp>
    </p:spTree>
    <p:extLst>
      <p:ext uri="{BB962C8B-B14F-4D97-AF65-F5344CB8AC3E}">
        <p14:creationId xmlns:p14="http://schemas.microsoft.com/office/powerpoint/2010/main" val="2688692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F2CE5-589C-8651-D4D5-D27A6E999E52}"/>
              </a:ext>
            </a:extLst>
          </p:cNvPr>
          <p:cNvSpPr>
            <a:spLocks noGrp="1"/>
          </p:cNvSpPr>
          <p:nvPr>
            <p:ph type="title"/>
          </p:nvPr>
        </p:nvSpPr>
        <p:spPr/>
        <p:txBody>
          <a:bodyPr/>
          <a:lstStyle/>
          <a:p>
            <a:r>
              <a:rPr lang="en-GB" dirty="0"/>
              <a:t>w</a:t>
            </a:r>
            <a:r>
              <a:rPr lang="en-PK" dirty="0"/>
              <a:t>indow Object</a:t>
            </a:r>
          </a:p>
        </p:txBody>
      </p:sp>
      <p:sp>
        <p:nvSpPr>
          <p:cNvPr id="3" name="Content Placeholder 2">
            <a:extLst>
              <a:ext uri="{FF2B5EF4-FFF2-40B4-BE49-F238E27FC236}">
                <a16:creationId xmlns:a16="http://schemas.microsoft.com/office/drawing/2014/main" id="{88B61FC0-7193-6B4A-2FD3-CB73E38D4F45}"/>
              </a:ext>
            </a:extLst>
          </p:cNvPr>
          <p:cNvSpPr>
            <a:spLocks noGrp="1"/>
          </p:cNvSpPr>
          <p:nvPr>
            <p:ph idx="1"/>
          </p:nvPr>
        </p:nvSpPr>
        <p:spPr/>
        <p:txBody>
          <a:bodyPr/>
          <a:lstStyle/>
          <a:p>
            <a:r>
              <a:rPr lang="en-GB" sz="1800" dirty="0">
                <a:effectLst/>
                <a:latin typeface="MinionPro"/>
              </a:rPr>
              <a:t>When you launch a browser or you launch a new tab within a browser window, the browser creates a new </a:t>
            </a:r>
            <a:r>
              <a:rPr lang="en-GB" sz="1800" dirty="0">
                <a:effectLst/>
                <a:latin typeface="CourierStd"/>
              </a:rPr>
              <a:t>window </a:t>
            </a:r>
            <a:r>
              <a:rPr lang="en-GB" sz="1800" dirty="0">
                <a:effectLst/>
                <a:latin typeface="MinionPro"/>
              </a:rPr>
              <a:t>object. </a:t>
            </a:r>
            <a:endParaRPr lang="en-GB" dirty="0"/>
          </a:p>
          <a:p>
            <a:endParaRPr lang="en-PK" dirty="0"/>
          </a:p>
        </p:txBody>
      </p:sp>
      <p:pic>
        <p:nvPicPr>
          <p:cNvPr id="5" name="Picture 4">
            <a:extLst>
              <a:ext uri="{FF2B5EF4-FFF2-40B4-BE49-F238E27FC236}">
                <a16:creationId xmlns:a16="http://schemas.microsoft.com/office/drawing/2014/main" id="{08485594-68E6-D594-059A-E237820E47D0}"/>
              </a:ext>
            </a:extLst>
          </p:cNvPr>
          <p:cNvPicPr>
            <a:picLocks noChangeAspect="1"/>
          </p:cNvPicPr>
          <p:nvPr/>
        </p:nvPicPr>
        <p:blipFill>
          <a:blip r:embed="rId2"/>
          <a:stretch>
            <a:fillRect/>
          </a:stretch>
        </p:blipFill>
        <p:spPr>
          <a:xfrm>
            <a:off x="1660582" y="2523041"/>
            <a:ext cx="7772400" cy="3969834"/>
          </a:xfrm>
          <a:prstGeom prst="rect">
            <a:avLst/>
          </a:prstGeom>
        </p:spPr>
      </p:pic>
    </p:spTree>
    <p:extLst>
      <p:ext uri="{BB962C8B-B14F-4D97-AF65-F5344CB8AC3E}">
        <p14:creationId xmlns:p14="http://schemas.microsoft.com/office/powerpoint/2010/main" val="739379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E644C-77B0-75BE-E2AF-52D0FCDCA364}"/>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2E31C1AE-0797-EAE9-FFB5-231E1EE9BA9A}"/>
              </a:ext>
            </a:extLst>
          </p:cNvPr>
          <p:cNvPicPr>
            <a:picLocks noGrp="1" noChangeAspect="1"/>
          </p:cNvPicPr>
          <p:nvPr>
            <p:ph idx="1"/>
          </p:nvPr>
        </p:nvPicPr>
        <p:blipFill>
          <a:blip r:embed="rId2"/>
          <a:stretch>
            <a:fillRect/>
          </a:stretch>
        </p:blipFill>
        <p:spPr>
          <a:xfrm>
            <a:off x="2434281" y="-21264"/>
            <a:ext cx="6264876" cy="6878541"/>
          </a:xfrm>
        </p:spPr>
      </p:pic>
    </p:spTree>
    <p:extLst>
      <p:ext uri="{BB962C8B-B14F-4D97-AF65-F5344CB8AC3E}">
        <p14:creationId xmlns:p14="http://schemas.microsoft.com/office/powerpoint/2010/main" val="1229443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01814-D7E5-AE3E-CF51-562A62E50BFC}"/>
              </a:ext>
            </a:extLst>
          </p:cNvPr>
          <p:cNvSpPr>
            <a:spLocks noGrp="1"/>
          </p:cNvSpPr>
          <p:nvPr>
            <p:ph type="title"/>
          </p:nvPr>
        </p:nvSpPr>
        <p:spPr/>
        <p:txBody>
          <a:bodyPr/>
          <a:lstStyle/>
          <a:p>
            <a:r>
              <a:rPr lang="en-PK" dirty="0"/>
              <a:t>Document Object Model (DOM)</a:t>
            </a:r>
          </a:p>
        </p:txBody>
      </p:sp>
      <p:sp>
        <p:nvSpPr>
          <p:cNvPr id="7" name="Content Placeholder 6">
            <a:extLst>
              <a:ext uri="{FF2B5EF4-FFF2-40B4-BE49-F238E27FC236}">
                <a16:creationId xmlns:a16="http://schemas.microsoft.com/office/drawing/2014/main" id="{CCE2EE6D-936A-E8A4-C732-F22804395D93}"/>
              </a:ext>
            </a:extLst>
          </p:cNvPr>
          <p:cNvSpPr>
            <a:spLocks noGrp="1"/>
          </p:cNvSpPr>
          <p:nvPr>
            <p:ph idx="1"/>
          </p:nvPr>
        </p:nvSpPr>
        <p:spPr/>
        <p:txBody>
          <a:bodyPr/>
          <a:lstStyle/>
          <a:p>
            <a:r>
              <a:rPr lang="en-GB" dirty="0"/>
              <a:t>W</a:t>
            </a:r>
            <a:r>
              <a:rPr lang="en-PK" dirty="0"/>
              <a:t>hen a webpage is loaded, the browser creates a DOM of the page.</a:t>
            </a:r>
          </a:p>
          <a:p>
            <a:endParaRPr lang="en-PK" dirty="0"/>
          </a:p>
        </p:txBody>
      </p:sp>
      <p:pic>
        <p:nvPicPr>
          <p:cNvPr id="4" name="Picture 3">
            <a:extLst>
              <a:ext uri="{FF2B5EF4-FFF2-40B4-BE49-F238E27FC236}">
                <a16:creationId xmlns:a16="http://schemas.microsoft.com/office/drawing/2014/main" id="{6EA7E394-D894-3C9F-06A3-27105F7B31DE}"/>
              </a:ext>
            </a:extLst>
          </p:cNvPr>
          <p:cNvPicPr>
            <a:picLocks noChangeAspect="1"/>
          </p:cNvPicPr>
          <p:nvPr/>
        </p:nvPicPr>
        <p:blipFill>
          <a:blip r:embed="rId2"/>
          <a:stretch>
            <a:fillRect/>
          </a:stretch>
        </p:blipFill>
        <p:spPr>
          <a:xfrm>
            <a:off x="3916279" y="2519947"/>
            <a:ext cx="4191000" cy="3454400"/>
          </a:xfrm>
          <a:prstGeom prst="rect">
            <a:avLst/>
          </a:prstGeom>
        </p:spPr>
      </p:pic>
    </p:spTree>
    <p:extLst>
      <p:ext uri="{BB962C8B-B14F-4D97-AF65-F5344CB8AC3E}">
        <p14:creationId xmlns:p14="http://schemas.microsoft.com/office/powerpoint/2010/main" val="878092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3AA5C-04AD-D1B7-28E8-7402AB07D2CB}"/>
              </a:ext>
            </a:extLst>
          </p:cNvPr>
          <p:cNvSpPr>
            <a:spLocks noGrp="1"/>
          </p:cNvSpPr>
          <p:nvPr>
            <p:ph type="title"/>
          </p:nvPr>
        </p:nvSpPr>
        <p:spPr/>
        <p:txBody>
          <a:bodyPr/>
          <a:lstStyle/>
          <a:p>
            <a:r>
              <a:rPr lang="en-PK" dirty="0"/>
              <a:t>DOM Manipulation</a:t>
            </a:r>
          </a:p>
        </p:txBody>
      </p:sp>
      <p:sp>
        <p:nvSpPr>
          <p:cNvPr id="3" name="Content Placeholder 2">
            <a:extLst>
              <a:ext uri="{FF2B5EF4-FFF2-40B4-BE49-F238E27FC236}">
                <a16:creationId xmlns:a16="http://schemas.microsoft.com/office/drawing/2014/main" id="{3AF7E2AB-95A3-38DC-593F-3CD535D1D370}"/>
              </a:ext>
            </a:extLst>
          </p:cNvPr>
          <p:cNvSpPr>
            <a:spLocks noGrp="1"/>
          </p:cNvSpPr>
          <p:nvPr>
            <p:ph idx="1"/>
          </p:nvPr>
        </p:nvSpPr>
        <p:spPr/>
        <p:txBody>
          <a:bodyPr/>
          <a:lstStyle/>
          <a:p>
            <a:r>
              <a:rPr lang="en-GB" dirty="0"/>
              <a:t>S</a:t>
            </a:r>
            <a:r>
              <a:rPr lang="en-PK" dirty="0"/>
              <a:t>electing with id</a:t>
            </a:r>
          </a:p>
          <a:p>
            <a:pPr lvl="1"/>
            <a:r>
              <a:rPr lang="en-GB" b="0" dirty="0" err="1">
                <a:solidFill>
                  <a:srgbClr val="9CDCFE"/>
                </a:solidFill>
                <a:effectLst/>
                <a:latin typeface="Menlo" panose="020B0609030804020204" pitchFamily="49" charset="0"/>
              </a:rPr>
              <a:t>document</a:t>
            </a:r>
            <a:r>
              <a:rPr lang="en-GB" b="0" dirty="0" err="1">
                <a:solidFill>
                  <a:srgbClr val="CCCCCC"/>
                </a:solidFill>
                <a:effectLst/>
                <a:latin typeface="Menlo" panose="020B0609030804020204" pitchFamily="49" charset="0"/>
              </a:rPr>
              <a:t>.</a:t>
            </a:r>
            <a:r>
              <a:rPr lang="en-GB" b="0" dirty="0" err="1">
                <a:solidFill>
                  <a:srgbClr val="DCDCAA"/>
                </a:solidFill>
                <a:effectLst/>
                <a:latin typeface="Menlo" panose="020B0609030804020204" pitchFamily="49" charset="0"/>
              </a:rPr>
              <a:t>getElementById</a:t>
            </a:r>
            <a:r>
              <a:rPr lang="en-GB" b="0" dirty="0">
                <a:solidFill>
                  <a:srgbClr val="CCCCCC"/>
                </a:solidFill>
                <a:effectLst/>
                <a:latin typeface="Menlo" panose="020B0609030804020204" pitchFamily="49" charset="0"/>
              </a:rPr>
              <a:t>(</a:t>
            </a:r>
            <a:r>
              <a:rPr lang="en-GB" b="0" dirty="0">
                <a:solidFill>
                  <a:srgbClr val="CE9178"/>
                </a:solidFill>
                <a:effectLst/>
                <a:latin typeface="Menlo" panose="020B0609030804020204" pitchFamily="49" charset="0"/>
              </a:rPr>
              <a:t>"</a:t>
            </a:r>
            <a:r>
              <a:rPr lang="en-GB" b="0" dirty="0" err="1">
                <a:solidFill>
                  <a:srgbClr val="CE9178"/>
                </a:solidFill>
                <a:effectLst/>
                <a:latin typeface="Menlo" panose="020B0609030804020204" pitchFamily="49" charset="0"/>
              </a:rPr>
              <a:t>myId</a:t>
            </a:r>
            <a:r>
              <a:rPr lang="en-GB" b="0" dirty="0">
                <a:solidFill>
                  <a:srgbClr val="CE9178"/>
                </a:solidFill>
                <a:effectLst/>
                <a:latin typeface="Menlo" panose="020B0609030804020204" pitchFamily="49" charset="0"/>
              </a:rPr>
              <a:t>"</a:t>
            </a:r>
            <a:r>
              <a:rPr lang="en-GB" b="0" dirty="0">
                <a:solidFill>
                  <a:srgbClr val="CCCCCC"/>
                </a:solidFill>
                <a:effectLst/>
                <a:latin typeface="Menlo" panose="020B0609030804020204" pitchFamily="49" charset="0"/>
              </a:rPr>
              <a:t>))</a:t>
            </a:r>
          </a:p>
          <a:p>
            <a:r>
              <a:rPr lang="en-GB" dirty="0"/>
              <a:t>S</a:t>
            </a:r>
            <a:r>
              <a:rPr lang="en-PK" dirty="0"/>
              <a:t>electing with class</a:t>
            </a:r>
          </a:p>
          <a:p>
            <a:pPr lvl="1"/>
            <a:r>
              <a:rPr lang="en-GB" b="0" dirty="0" err="1">
                <a:solidFill>
                  <a:srgbClr val="9CDCFE"/>
                </a:solidFill>
                <a:effectLst/>
                <a:latin typeface="Menlo" panose="020B0609030804020204" pitchFamily="49" charset="0"/>
              </a:rPr>
              <a:t>document</a:t>
            </a:r>
            <a:r>
              <a:rPr lang="en-GB" b="0" dirty="0" err="1">
                <a:solidFill>
                  <a:srgbClr val="CCCCCC"/>
                </a:solidFill>
                <a:effectLst/>
                <a:latin typeface="Menlo" panose="020B0609030804020204" pitchFamily="49" charset="0"/>
              </a:rPr>
              <a:t>.</a:t>
            </a:r>
            <a:r>
              <a:rPr lang="en-GB" b="0" dirty="0" err="1">
                <a:solidFill>
                  <a:srgbClr val="DCDCAA"/>
                </a:solidFill>
                <a:effectLst/>
                <a:latin typeface="Menlo" panose="020B0609030804020204" pitchFamily="49" charset="0"/>
              </a:rPr>
              <a:t>getElementsByClassName</a:t>
            </a:r>
            <a:r>
              <a:rPr lang="en-GB" b="0" dirty="0">
                <a:solidFill>
                  <a:srgbClr val="CCCCCC"/>
                </a:solidFill>
                <a:effectLst/>
                <a:latin typeface="Menlo" panose="020B0609030804020204" pitchFamily="49" charset="0"/>
              </a:rPr>
              <a:t>(</a:t>
            </a:r>
            <a:r>
              <a:rPr lang="en-GB" b="0" dirty="0">
                <a:solidFill>
                  <a:srgbClr val="CE9178"/>
                </a:solidFill>
                <a:effectLst/>
                <a:latin typeface="Menlo" panose="020B0609030804020204" pitchFamily="49" charset="0"/>
              </a:rPr>
              <a:t>"</a:t>
            </a:r>
            <a:r>
              <a:rPr lang="en-GB" b="0" dirty="0" err="1">
                <a:solidFill>
                  <a:srgbClr val="CE9178"/>
                </a:solidFill>
                <a:effectLst/>
                <a:latin typeface="Menlo" panose="020B0609030804020204" pitchFamily="49" charset="0"/>
              </a:rPr>
              <a:t>myClass</a:t>
            </a:r>
            <a:r>
              <a:rPr lang="en-GB" b="0" dirty="0">
                <a:solidFill>
                  <a:srgbClr val="CE9178"/>
                </a:solidFill>
                <a:effectLst/>
                <a:latin typeface="Menlo" panose="020B0609030804020204" pitchFamily="49" charset="0"/>
              </a:rPr>
              <a:t>"</a:t>
            </a:r>
            <a:r>
              <a:rPr lang="en-GB" b="0" dirty="0">
                <a:solidFill>
                  <a:srgbClr val="CCCCCC"/>
                </a:solidFill>
                <a:effectLst/>
                <a:latin typeface="Menlo" panose="020B0609030804020204" pitchFamily="49" charset="0"/>
              </a:rPr>
              <a:t>)</a:t>
            </a:r>
            <a:endParaRPr lang="en-PK" dirty="0"/>
          </a:p>
          <a:p>
            <a:r>
              <a:rPr lang="en-GB" dirty="0"/>
              <a:t>S</a:t>
            </a:r>
            <a:r>
              <a:rPr lang="en-PK" dirty="0"/>
              <a:t>electing with class</a:t>
            </a:r>
          </a:p>
          <a:p>
            <a:pPr lvl="1"/>
            <a:r>
              <a:rPr lang="en-GB" b="0" dirty="0" err="1">
                <a:solidFill>
                  <a:srgbClr val="9CDCFE"/>
                </a:solidFill>
                <a:effectLst/>
                <a:latin typeface="Menlo" panose="020B0609030804020204" pitchFamily="49" charset="0"/>
              </a:rPr>
              <a:t>document</a:t>
            </a:r>
            <a:r>
              <a:rPr lang="en-GB" b="0" dirty="0" err="1">
                <a:solidFill>
                  <a:srgbClr val="CCCCCC"/>
                </a:solidFill>
                <a:effectLst/>
                <a:latin typeface="Menlo" panose="020B0609030804020204" pitchFamily="49" charset="0"/>
              </a:rPr>
              <a:t>.</a:t>
            </a:r>
            <a:r>
              <a:rPr lang="en-GB" b="0" dirty="0" err="1">
                <a:solidFill>
                  <a:srgbClr val="DCDCAA"/>
                </a:solidFill>
                <a:effectLst/>
                <a:latin typeface="Menlo" panose="020B0609030804020204" pitchFamily="49" charset="0"/>
              </a:rPr>
              <a:t>getElementsByTagName</a:t>
            </a:r>
            <a:r>
              <a:rPr lang="en-GB" b="0" dirty="0">
                <a:solidFill>
                  <a:srgbClr val="CCCCCC"/>
                </a:solidFill>
                <a:effectLst/>
                <a:latin typeface="Menlo" panose="020B0609030804020204" pitchFamily="49" charset="0"/>
              </a:rPr>
              <a:t>(</a:t>
            </a:r>
            <a:r>
              <a:rPr lang="en-GB" b="0" dirty="0">
                <a:solidFill>
                  <a:srgbClr val="CE9178"/>
                </a:solidFill>
                <a:effectLst/>
                <a:latin typeface="Menlo" panose="020B0609030804020204" pitchFamily="49" charset="0"/>
              </a:rPr>
              <a:t>"p"</a:t>
            </a:r>
            <a:r>
              <a:rPr lang="en-GB" b="0" dirty="0">
                <a:solidFill>
                  <a:srgbClr val="CCCCCC"/>
                </a:solidFill>
                <a:effectLst/>
                <a:latin typeface="Menlo" panose="020B0609030804020204" pitchFamily="49" charset="0"/>
              </a:rPr>
              <a:t>)</a:t>
            </a:r>
            <a:endParaRPr lang="en-PK" b="0" dirty="0">
              <a:solidFill>
                <a:srgbClr val="CCCCCC"/>
              </a:solidFill>
              <a:effectLst/>
              <a:latin typeface="Menlo" panose="020B0609030804020204" pitchFamily="49" charset="0"/>
            </a:endParaRPr>
          </a:p>
          <a:p>
            <a:pPr lvl="1"/>
            <a:endParaRPr lang="en-PK" dirty="0">
              <a:solidFill>
                <a:srgbClr val="CCCCCC"/>
              </a:solidFill>
              <a:latin typeface="Menlo" panose="020B0609030804020204" pitchFamily="49" charset="0"/>
            </a:endParaRPr>
          </a:p>
          <a:p>
            <a:endParaRPr lang="en-GB" b="0" dirty="0">
              <a:solidFill>
                <a:srgbClr val="CCCCCC"/>
              </a:solidFill>
              <a:effectLst/>
              <a:latin typeface="Menlo" panose="020B0609030804020204" pitchFamily="49" charset="0"/>
            </a:endParaRPr>
          </a:p>
        </p:txBody>
      </p:sp>
    </p:spTree>
    <p:extLst>
      <p:ext uri="{BB962C8B-B14F-4D97-AF65-F5344CB8AC3E}">
        <p14:creationId xmlns:p14="http://schemas.microsoft.com/office/powerpoint/2010/main" val="33577476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B2A6D-1E0F-9C5E-DC9C-BE3FA3A9894E}"/>
              </a:ext>
            </a:extLst>
          </p:cNvPr>
          <p:cNvSpPr>
            <a:spLocks noGrp="1"/>
          </p:cNvSpPr>
          <p:nvPr>
            <p:ph type="title"/>
          </p:nvPr>
        </p:nvSpPr>
        <p:spPr/>
        <p:txBody>
          <a:bodyPr/>
          <a:lstStyle/>
          <a:p>
            <a:r>
              <a:rPr lang="en-GB" dirty="0"/>
              <a:t>d</a:t>
            </a:r>
            <a:r>
              <a:rPr lang="en-PK" dirty="0"/>
              <a:t>ocument.querySelector</a:t>
            </a:r>
          </a:p>
        </p:txBody>
      </p:sp>
      <p:pic>
        <p:nvPicPr>
          <p:cNvPr id="5" name="Content Placeholder 4">
            <a:extLst>
              <a:ext uri="{FF2B5EF4-FFF2-40B4-BE49-F238E27FC236}">
                <a16:creationId xmlns:a16="http://schemas.microsoft.com/office/drawing/2014/main" id="{CDFED802-D5F2-5509-320E-07A759EA84FC}"/>
              </a:ext>
            </a:extLst>
          </p:cNvPr>
          <p:cNvPicPr>
            <a:picLocks noGrp="1" noChangeAspect="1"/>
          </p:cNvPicPr>
          <p:nvPr>
            <p:ph idx="1"/>
          </p:nvPr>
        </p:nvPicPr>
        <p:blipFill>
          <a:blip r:embed="rId2"/>
          <a:stretch>
            <a:fillRect/>
          </a:stretch>
        </p:blipFill>
        <p:spPr>
          <a:xfrm>
            <a:off x="702020" y="1863969"/>
            <a:ext cx="10438811" cy="3857198"/>
          </a:xfrm>
        </p:spPr>
      </p:pic>
    </p:spTree>
    <p:extLst>
      <p:ext uri="{BB962C8B-B14F-4D97-AF65-F5344CB8AC3E}">
        <p14:creationId xmlns:p14="http://schemas.microsoft.com/office/powerpoint/2010/main" val="1012874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A985F-DD7F-F426-D654-BB7EA574F4E2}"/>
              </a:ext>
            </a:extLst>
          </p:cNvPr>
          <p:cNvSpPr>
            <a:spLocks noGrp="1"/>
          </p:cNvSpPr>
          <p:nvPr>
            <p:ph type="title"/>
          </p:nvPr>
        </p:nvSpPr>
        <p:spPr/>
        <p:txBody>
          <a:bodyPr/>
          <a:lstStyle/>
          <a:p>
            <a:r>
              <a:rPr lang="en-PK" dirty="0"/>
              <a:t>DOM manipulation</a:t>
            </a:r>
          </a:p>
        </p:txBody>
      </p:sp>
      <p:sp>
        <p:nvSpPr>
          <p:cNvPr id="3" name="Content Placeholder 2">
            <a:extLst>
              <a:ext uri="{FF2B5EF4-FFF2-40B4-BE49-F238E27FC236}">
                <a16:creationId xmlns:a16="http://schemas.microsoft.com/office/drawing/2014/main" id="{D1B15A1E-ABDA-122C-2CCF-27E4588DE0BF}"/>
              </a:ext>
            </a:extLst>
          </p:cNvPr>
          <p:cNvSpPr>
            <a:spLocks noGrp="1"/>
          </p:cNvSpPr>
          <p:nvPr>
            <p:ph idx="1"/>
          </p:nvPr>
        </p:nvSpPr>
        <p:spPr/>
        <p:txBody>
          <a:bodyPr/>
          <a:lstStyle/>
          <a:p>
            <a:r>
              <a:rPr lang="en-GB" dirty="0"/>
              <a:t>P</a:t>
            </a:r>
            <a:r>
              <a:rPr lang="en-PK" dirty="0"/>
              <a:t>roperties:</a:t>
            </a:r>
          </a:p>
          <a:p>
            <a:pPr lvl="1"/>
            <a:r>
              <a:rPr lang="en-GB" dirty="0"/>
              <a:t>t</a:t>
            </a:r>
            <a:r>
              <a:rPr lang="en-PK" dirty="0"/>
              <a:t>agName: returns tag for element nodes</a:t>
            </a:r>
          </a:p>
          <a:p>
            <a:pPr lvl="1"/>
            <a:r>
              <a:rPr lang="en-PK" dirty="0"/>
              <a:t>innerText: returns the text content for the element and all its children</a:t>
            </a:r>
          </a:p>
          <a:p>
            <a:pPr lvl="1"/>
            <a:r>
              <a:rPr lang="en-PK" dirty="0"/>
              <a:t>innerHTML: returns the plain text or html contents in the element</a:t>
            </a:r>
          </a:p>
          <a:p>
            <a:pPr lvl="1"/>
            <a:r>
              <a:rPr lang="en-PK" dirty="0"/>
              <a:t>textContent: returns textual content even for hidden elements</a:t>
            </a:r>
          </a:p>
          <a:p>
            <a:pPr lvl="1"/>
            <a:endParaRPr lang="en-PK" dirty="0"/>
          </a:p>
        </p:txBody>
      </p:sp>
    </p:spTree>
    <p:extLst>
      <p:ext uri="{BB962C8B-B14F-4D97-AF65-F5344CB8AC3E}">
        <p14:creationId xmlns:p14="http://schemas.microsoft.com/office/powerpoint/2010/main" val="1286842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E4D8-BC6F-EB9C-4C6C-CA961BCCCA66}"/>
              </a:ext>
            </a:extLst>
          </p:cNvPr>
          <p:cNvSpPr>
            <a:spLocks noGrp="1"/>
          </p:cNvSpPr>
          <p:nvPr>
            <p:ph type="title"/>
          </p:nvPr>
        </p:nvSpPr>
        <p:spPr/>
        <p:txBody>
          <a:bodyPr/>
          <a:lstStyle/>
          <a:p>
            <a:r>
              <a:rPr lang="en-PK" dirty="0"/>
              <a:t>Practice questions</a:t>
            </a:r>
          </a:p>
        </p:txBody>
      </p:sp>
      <p:sp>
        <p:nvSpPr>
          <p:cNvPr id="3" name="Content Placeholder 2">
            <a:extLst>
              <a:ext uri="{FF2B5EF4-FFF2-40B4-BE49-F238E27FC236}">
                <a16:creationId xmlns:a16="http://schemas.microsoft.com/office/drawing/2014/main" id="{4144A1B1-3130-349C-1E76-14C3D08FB8F4}"/>
              </a:ext>
            </a:extLst>
          </p:cNvPr>
          <p:cNvSpPr>
            <a:spLocks noGrp="1"/>
          </p:cNvSpPr>
          <p:nvPr>
            <p:ph idx="1"/>
          </p:nvPr>
        </p:nvSpPr>
        <p:spPr/>
        <p:txBody>
          <a:bodyPr/>
          <a:lstStyle/>
          <a:p>
            <a:r>
              <a:rPr lang="en-PK" dirty="0"/>
              <a:t>Create a H2 heading element with text – “Hello Javascript”. Append “from Comsats student” to this text using JS.</a:t>
            </a:r>
          </a:p>
          <a:p>
            <a:r>
              <a:rPr lang="en-GB" dirty="0"/>
              <a:t>C</a:t>
            </a:r>
            <a:r>
              <a:rPr lang="en-PK" dirty="0"/>
              <a:t>reate 3 divs with common class name “box”. Access them and add some unique text to each one of them.</a:t>
            </a:r>
          </a:p>
        </p:txBody>
      </p:sp>
    </p:spTree>
    <p:extLst>
      <p:ext uri="{BB962C8B-B14F-4D97-AF65-F5344CB8AC3E}">
        <p14:creationId xmlns:p14="http://schemas.microsoft.com/office/powerpoint/2010/main" val="32793280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C153B-B061-18A1-12B9-245DCEFBA5D0}"/>
              </a:ext>
            </a:extLst>
          </p:cNvPr>
          <p:cNvSpPr>
            <a:spLocks noGrp="1"/>
          </p:cNvSpPr>
          <p:nvPr>
            <p:ph type="title"/>
          </p:nvPr>
        </p:nvSpPr>
        <p:spPr/>
        <p:txBody>
          <a:bodyPr/>
          <a:lstStyle/>
          <a:p>
            <a:r>
              <a:rPr lang="en-PK" dirty="0"/>
              <a:t>DOM manipulation</a:t>
            </a:r>
          </a:p>
        </p:txBody>
      </p:sp>
      <p:sp>
        <p:nvSpPr>
          <p:cNvPr id="3" name="Content Placeholder 2">
            <a:extLst>
              <a:ext uri="{FF2B5EF4-FFF2-40B4-BE49-F238E27FC236}">
                <a16:creationId xmlns:a16="http://schemas.microsoft.com/office/drawing/2014/main" id="{00F1D534-D519-93B8-DAA4-3A12877FA012}"/>
              </a:ext>
            </a:extLst>
          </p:cNvPr>
          <p:cNvSpPr>
            <a:spLocks noGrp="1"/>
          </p:cNvSpPr>
          <p:nvPr>
            <p:ph idx="1"/>
          </p:nvPr>
        </p:nvSpPr>
        <p:spPr/>
        <p:txBody>
          <a:bodyPr>
            <a:normAutofit/>
          </a:bodyPr>
          <a:lstStyle/>
          <a:p>
            <a:r>
              <a:rPr lang="en-PK" dirty="0"/>
              <a:t>Attributes:</a:t>
            </a:r>
          </a:p>
          <a:p>
            <a:pPr lvl="1"/>
            <a:r>
              <a:rPr lang="en-PK" dirty="0"/>
              <a:t>getAttribute(attr) </a:t>
            </a:r>
          </a:p>
          <a:p>
            <a:pPr lvl="1"/>
            <a:r>
              <a:rPr lang="en-PK" dirty="0"/>
              <a:t>setAttribute(attr, val)</a:t>
            </a:r>
          </a:p>
          <a:p>
            <a:pPr lvl="1"/>
            <a:r>
              <a:rPr lang="en-GB" dirty="0"/>
              <a:t>E</a:t>
            </a:r>
            <a:r>
              <a:rPr lang="en-PK" dirty="0"/>
              <a:t>xample: </a:t>
            </a:r>
          </a:p>
          <a:p>
            <a:pPr marL="914400" lvl="2" indent="0">
              <a:buNone/>
            </a:pPr>
            <a:r>
              <a:rPr lang="en-GB" sz="1400" b="0" dirty="0">
                <a:solidFill>
                  <a:srgbClr val="569CD6"/>
                </a:solidFill>
                <a:effectLst/>
                <a:latin typeface="Menlo" panose="020B0609030804020204" pitchFamily="49" charset="0"/>
              </a:rPr>
              <a:t>let</a:t>
            </a:r>
            <a:r>
              <a:rPr lang="en-GB" sz="1400" b="0" dirty="0">
                <a:solidFill>
                  <a:srgbClr val="CCCCCC"/>
                </a:solidFill>
                <a:effectLst/>
                <a:latin typeface="Menlo" panose="020B0609030804020204" pitchFamily="49" charset="0"/>
              </a:rPr>
              <a:t> </a:t>
            </a:r>
            <a:r>
              <a:rPr lang="en-GB" sz="1400" b="0" dirty="0">
                <a:solidFill>
                  <a:srgbClr val="9CDCFE"/>
                </a:solidFill>
                <a:effectLst/>
                <a:latin typeface="Menlo" panose="020B0609030804020204" pitchFamily="49" charset="0"/>
              </a:rPr>
              <a:t>ref</a:t>
            </a:r>
            <a:r>
              <a:rPr lang="en-GB" sz="1400" b="0" dirty="0">
                <a:solidFill>
                  <a:srgbClr val="CCCCCC"/>
                </a:solidFill>
                <a:effectLst/>
                <a:latin typeface="Menlo" panose="020B0609030804020204" pitchFamily="49" charset="0"/>
              </a:rPr>
              <a:t> </a:t>
            </a:r>
            <a:r>
              <a:rPr lang="en-GB" sz="1400" b="0" dirty="0">
                <a:solidFill>
                  <a:srgbClr val="D4D4D4"/>
                </a:solidFill>
                <a:effectLst/>
                <a:latin typeface="Menlo" panose="020B0609030804020204" pitchFamily="49" charset="0"/>
              </a:rPr>
              <a:t>=</a:t>
            </a:r>
            <a:r>
              <a:rPr lang="en-GB" sz="1400" b="0" dirty="0">
                <a:solidFill>
                  <a:srgbClr val="CCCCCC"/>
                </a:solidFill>
                <a:effectLst/>
                <a:latin typeface="Menlo" panose="020B0609030804020204" pitchFamily="49" charset="0"/>
              </a:rPr>
              <a:t> </a:t>
            </a:r>
            <a:r>
              <a:rPr lang="en-GB" sz="1400" b="0" dirty="0" err="1">
                <a:solidFill>
                  <a:srgbClr val="9CDCFE"/>
                </a:solidFill>
                <a:effectLst/>
                <a:latin typeface="Menlo" panose="020B0609030804020204" pitchFamily="49" charset="0"/>
              </a:rPr>
              <a:t>document</a:t>
            </a:r>
            <a:r>
              <a:rPr lang="en-GB" sz="1400" b="0" dirty="0" err="1">
                <a:solidFill>
                  <a:srgbClr val="CCCCCC"/>
                </a:solidFill>
                <a:effectLst/>
                <a:latin typeface="Menlo" panose="020B0609030804020204" pitchFamily="49" charset="0"/>
              </a:rPr>
              <a:t>.</a:t>
            </a:r>
            <a:r>
              <a:rPr lang="en-GB" sz="1400" b="0" dirty="0" err="1">
                <a:solidFill>
                  <a:srgbClr val="DCDCAA"/>
                </a:solidFill>
                <a:effectLst/>
                <a:latin typeface="Menlo" panose="020B0609030804020204" pitchFamily="49" charset="0"/>
              </a:rPr>
              <a:t>querySelector</a:t>
            </a:r>
            <a:r>
              <a:rPr lang="en-GB" sz="1400" b="0" dirty="0">
                <a:solidFill>
                  <a:srgbClr val="CCCCCC"/>
                </a:solidFill>
                <a:effectLst/>
                <a:latin typeface="Menlo" panose="020B0609030804020204" pitchFamily="49" charset="0"/>
              </a:rPr>
              <a:t>(</a:t>
            </a:r>
            <a:r>
              <a:rPr lang="en-GB" sz="1400" b="0" dirty="0">
                <a:solidFill>
                  <a:srgbClr val="CE9178"/>
                </a:solidFill>
                <a:effectLst/>
                <a:latin typeface="Menlo" panose="020B0609030804020204" pitchFamily="49" charset="0"/>
              </a:rPr>
              <a:t>"a"</a:t>
            </a:r>
            <a:r>
              <a:rPr lang="en-GB" sz="1400" b="0" dirty="0">
                <a:solidFill>
                  <a:srgbClr val="CCCCCC"/>
                </a:solidFill>
                <a:effectLst/>
                <a:latin typeface="Menlo" panose="020B0609030804020204" pitchFamily="49" charset="0"/>
              </a:rPr>
              <a:t>).</a:t>
            </a:r>
            <a:r>
              <a:rPr lang="en-GB" sz="1400" b="0" dirty="0" err="1">
                <a:solidFill>
                  <a:srgbClr val="DCDCAA"/>
                </a:solidFill>
                <a:effectLst/>
                <a:latin typeface="Menlo" panose="020B0609030804020204" pitchFamily="49" charset="0"/>
              </a:rPr>
              <a:t>getAttribute</a:t>
            </a:r>
            <a:r>
              <a:rPr lang="en-GB" sz="1400" b="0" dirty="0">
                <a:solidFill>
                  <a:srgbClr val="CCCCCC"/>
                </a:solidFill>
                <a:effectLst/>
                <a:latin typeface="Menlo" panose="020B0609030804020204" pitchFamily="49" charset="0"/>
              </a:rPr>
              <a:t>(</a:t>
            </a:r>
            <a:r>
              <a:rPr lang="en-GB" sz="1400" b="0" dirty="0">
                <a:solidFill>
                  <a:srgbClr val="CE9178"/>
                </a:solidFill>
                <a:effectLst/>
                <a:latin typeface="Menlo" panose="020B0609030804020204" pitchFamily="49" charset="0"/>
              </a:rPr>
              <a:t>"</a:t>
            </a:r>
            <a:r>
              <a:rPr lang="en-GB" sz="1400" b="0" dirty="0" err="1">
                <a:solidFill>
                  <a:srgbClr val="CE9178"/>
                </a:solidFill>
                <a:effectLst/>
                <a:latin typeface="Menlo" panose="020B0609030804020204" pitchFamily="49" charset="0"/>
              </a:rPr>
              <a:t>href</a:t>
            </a:r>
            <a:r>
              <a:rPr lang="en-GB" sz="1400" b="0" dirty="0">
                <a:solidFill>
                  <a:srgbClr val="CE9178"/>
                </a:solidFill>
                <a:effectLst/>
                <a:latin typeface="Menlo" panose="020B0609030804020204" pitchFamily="49" charset="0"/>
              </a:rPr>
              <a:t>"</a:t>
            </a:r>
            <a:r>
              <a:rPr lang="en-GB" sz="1400" b="0" dirty="0">
                <a:solidFill>
                  <a:srgbClr val="CCCCCC"/>
                </a:solidFill>
                <a:effectLst/>
                <a:latin typeface="Menlo" panose="020B0609030804020204" pitchFamily="49" charset="0"/>
              </a:rPr>
              <a:t>);</a:t>
            </a:r>
          </a:p>
          <a:p>
            <a:pPr marL="914400" lvl="2" indent="0">
              <a:buNone/>
            </a:pPr>
            <a:r>
              <a:rPr lang="en-GB" sz="1400" b="0" dirty="0" err="1">
                <a:solidFill>
                  <a:srgbClr val="9CDCFE"/>
                </a:solidFill>
                <a:effectLst/>
                <a:latin typeface="Menlo" panose="020B0609030804020204" pitchFamily="49" charset="0"/>
              </a:rPr>
              <a:t>console</a:t>
            </a:r>
            <a:r>
              <a:rPr lang="en-GB" sz="1400" b="0" dirty="0" err="1">
                <a:solidFill>
                  <a:srgbClr val="CCCCCC"/>
                </a:solidFill>
                <a:effectLst/>
                <a:latin typeface="Menlo" panose="020B0609030804020204" pitchFamily="49" charset="0"/>
              </a:rPr>
              <a:t>.</a:t>
            </a:r>
            <a:r>
              <a:rPr lang="en-GB" sz="1400" b="0" dirty="0" err="1">
                <a:solidFill>
                  <a:srgbClr val="DCDCAA"/>
                </a:solidFill>
                <a:effectLst/>
                <a:latin typeface="Menlo" panose="020B0609030804020204" pitchFamily="49" charset="0"/>
              </a:rPr>
              <a:t>log</a:t>
            </a:r>
            <a:r>
              <a:rPr lang="en-GB" sz="1400" b="0" dirty="0">
                <a:solidFill>
                  <a:srgbClr val="CCCCCC"/>
                </a:solidFill>
                <a:effectLst/>
                <a:latin typeface="Menlo" panose="020B0609030804020204" pitchFamily="49" charset="0"/>
              </a:rPr>
              <a:t>(</a:t>
            </a:r>
            <a:r>
              <a:rPr lang="en-GB" sz="1400" b="0" dirty="0">
                <a:solidFill>
                  <a:srgbClr val="9CDCFE"/>
                </a:solidFill>
                <a:effectLst/>
                <a:latin typeface="Menlo" panose="020B0609030804020204" pitchFamily="49" charset="0"/>
              </a:rPr>
              <a:t>ref</a:t>
            </a:r>
            <a:r>
              <a:rPr lang="en-GB" sz="1400" b="0" dirty="0">
                <a:solidFill>
                  <a:srgbClr val="CCCCCC"/>
                </a:solidFill>
                <a:effectLst/>
                <a:latin typeface="Menlo" panose="020B0609030804020204" pitchFamily="49" charset="0"/>
              </a:rPr>
              <a:t>)</a:t>
            </a:r>
          </a:p>
          <a:p>
            <a:pPr lvl="1"/>
            <a:endParaRPr lang="en-PK" dirty="0"/>
          </a:p>
          <a:p>
            <a:r>
              <a:rPr lang="en-GB" dirty="0"/>
              <a:t>S</a:t>
            </a:r>
            <a:r>
              <a:rPr lang="en-PK" dirty="0"/>
              <a:t>tyle</a:t>
            </a:r>
          </a:p>
          <a:p>
            <a:pPr lvl="1"/>
            <a:r>
              <a:rPr lang="en-GB" dirty="0"/>
              <a:t>n</a:t>
            </a:r>
            <a:r>
              <a:rPr lang="en-PK" dirty="0"/>
              <a:t>ode.style</a:t>
            </a:r>
          </a:p>
          <a:p>
            <a:pPr lvl="1"/>
            <a:endParaRPr lang="en-PK" dirty="0"/>
          </a:p>
          <a:p>
            <a:pPr lvl="1"/>
            <a:r>
              <a:rPr lang="en-GB" dirty="0"/>
              <a:t>E</a:t>
            </a:r>
            <a:r>
              <a:rPr lang="en-PK" dirty="0"/>
              <a:t>xample: document.querySelector(“p”).style.color = “red”;</a:t>
            </a:r>
          </a:p>
        </p:txBody>
      </p:sp>
    </p:spTree>
    <p:extLst>
      <p:ext uri="{BB962C8B-B14F-4D97-AF65-F5344CB8AC3E}">
        <p14:creationId xmlns:p14="http://schemas.microsoft.com/office/powerpoint/2010/main" val="1553493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0FA8A-F7EB-13B1-3499-5A51E918805B}"/>
              </a:ext>
            </a:extLst>
          </p:cNvPr>
          <p:cNvSpPr>
            <a:spLocks noGrp="1"/>
          </p:cNvSpPr>
          <p:nvPr>
            <p:ph type="title"/>
          </p:nvPr>
        </p:nvSpPr>
        <p:spPr/>
        <p:txBody>
          <a:bodyPr/>
          <a:lstStyle/>
          <a:p>
            <a:r>
              <a:rPr lang="en-PK" dirty="0"/>
              <a:t>DOM Manipulation</a:t>
            </a:r>
          </a:p>
        </p:txBody>
      </p:sp>
      <p:sp>
        <p:nvSpPr>
          <p:cNvPr id="3" name="Content Placeholder 2">
            <a:extLst>
              <a:ext uri="{FF2B5EF4-FFF2-40B4-BE49-F238E27FC236}">
                <a16:creationId xmlns:a16="http://schemas.microsoft.com/office/drawing/2014/main" id="{8CDD1C2A-FD73-81AE-7C1D-B5CFEBF9B350}"/>
              </a:ext>
            </a:extLst>
          </p:cNvPr>
          <p:cNvSpPr>
            <a:spLocks noGrp="1"/>
          </p:cNvSpPr>
          <p:nvPr>
            <p:ph idx="1"/>
          </p:nvPr>
        </p:nvSpPr>
        <p:spPr/>
        <p:txBody>
          <a:bodyPr/>
          <a:lstStyle/>
          <a:p>
            <a:r>
              <a:rPr lang="en-PK" dirty="0"/>
              <a:t>Insert element: let el = document.createElement(“div”);</a:t>
            </a:r>
          </a:p>
          <a:p>
            <a:r>
              <a:rPr lang="en-GB" dirty="0"/>
              <a:t>n</a:t>
            </a:r>
            <a:r>
              <a:rPr lang="en-PK" dirty="0"/>
              <a:t>ode.append(el) //adds at the end of the node(inside)</a:t>
            </a:r>
          </a:p>
          <a:p>
            <a:r>
              <a:rPr lang="en-GB" dirty="0"/>
              <a:t>n</a:t>
            </a:r>
            <a:r>
              <a:rPr lang="en-PK" dirty="0"/>
              <a:t>ode.prepend(el) //adds at the start of the node(inside)</a:t>
            </a:r>
          </a:p>
          <a:p>
            <a:r>
              <a:rPr lang="en-GB" dirty="0"/>
              <a:t>n</a:t>
            </a:r>
            <a:r>
              <a:rPr lang="en-PK" dirty="0"/>
              <a:t>ode.before(el) //adds at the start of the node(outside)</a:t>
            </a:r>
          </a:p>
          <a:p>
            <a:r>
              <a:rPr lang="en-GB" dirty="0"/>
              <a:t>n</a:t>
            </a:r>
            <a:r>
              <a:rPr lang="en-PK" dirty="0"/>
              <a:t>ode.after(el) //adds at the end of the node(outside)</a:t>
            </a:r>
          </a:p>
          <a:p>
            <a:r>
              <a:rPr lang="en-PK" dirty="0"/>
              <a:t>Delete element: node.remove()</a:t>
            </a:r>
          </a:p>
        </p:txBody>
      </p:sp>
    </p:spTree>
    <p:extLst>
      <p:ext uri="{BB962C8B-B14F-4D97-AF65-F5344CB8AC3E}">
        <p14:creationId xmlns:p14="http://schemas.microsoft.com/office/powerpoint/2010/main" val="512593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7A14E-B944-3A77-7900-097EE820CE17}"/>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BB3F9E74-2F44-09D8-88B0-C72F611B5DEF}"/>
              </a:ext>
            </a:extLst>
          </p:cNvPr>
          <p:cNvPicPr>
            <a:picLocks noGrp="1" noChangeAspect="1"/>
          </p:cNvPicPr>
          <p:nvPr>
            <p:ph idx="1"/>
          </p:nvPr>
        </p:nvPicPr>
        <p:blipFill>
          <a:blip r:embed="rId2"/>
          <a:stretch>
            <a:fillRect/>
          </a:stretch>
        </p:blipFill>
        <p:spPr>
          <a:xfrm>
            <a:off x="838200" y="2359407"/>
            <a:ext cx="10515600" cy="3283774"/>
          </a:xfrm>
        </p:spPr>
      </p:pic>
    </p:spTree>
    <p:extLst>
      <p:ext uri="{BB962C8B-B14F-4D97-AF65-F5344CB8AC3E}">
        <p14:creationId xmlns:p14="http://schemas.microsoft.com/office/powerpoint/2010/main" val="3115935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9F0E3-6712-3CFB-25C6-EBD0EB1CFC95}"/>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D81B75DD-3EAB-B3CF-B879-7A8A2BFD9A8D}"/>
              </a:ext>
            </a:extLst>
          </p:cNvPr>
          <p:cNvPicPr>
            <a:picLocks noGrp="1" noChangeAspect="1"/>
          </p:cNvPicPr>
          <p:nvPr>
            <p:ph idx="1"/>
          </p:nvPr>
        </p:nvPicPr>
        <p:blipFill>
          <a:blip r:embed="rId2"/>
          <a:stretch>
            <a:fillRect/>
          </a:stretch>
        </p:blipFill>
        <p:spPr>
          <a:xfrm>
            <a:off x="838200" y="2140744"/>
            <a:ext cx="10515600" cy="3721100"/>
          </a:xfrm>
        </p:spPr>
      </p:pic>
    </p:spTree>
    <p:extLst>
      <p:ext uri="{BB962C8B-B14F-4D97-AF65-F5344CB8AC3E}">
        <p14:creationId xmlns:p14="http://schemas.microsoft.com/office/powerpoint/2010/main" val="212558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0D177-1188-BDE6-FEA9-8FD7309F3ABE}"/>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1D1C90C9-316D-2DFE-6DEA-65B30FBEFE60}"/>
              </a:ext>
            </a:extLst>
          </p:cNvPr>
          <p:cNvPicPr>
            <a:picLocks noGrp="1" noChangeAspect="1"/>
          </p:cNvPicPr>
          <p:nvPr>
            <p:ph idx="1"/>
          </p:nvPr>
        </p:nvPicPr>
        <p:blipFill>
          <a:blip r:embed="rId2"/>
          <a:stretch>
            <a:fillRect/>
          </a:stretch>
        </p:blipFill>
        <p:spPr>
          <a:xfrm>
            <a:off x="838200" y="2470855"/>
            <a:ext cx="10515600" cy="3060878"/>
          </a:xfrm>
        </p:spPr>
      </p:pic>
    </p:spTree>
    <p:extLst>
      <p:ext uri="{BB962C8B-B14F-4D97-AF65-F5344CB8AC3E}">
        <p14:creationId xmlns:p14="http://schemas.microsoft.com/office/powerpoint/2010/main" val="32668113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388AB-013F-63B1-F67B-B06D67909425}"/>
              </a:ext>
            </a:extLst>
          </p:cNvPr>
          <p:cNvSpPr>
            <a:spLocks noGrp="1"/>
          </p:cNvSpPr>
          <p:nvPr>
            <p:ph type="title"/>
          </p:nvPr>
        </p:nvSpPr>
        <p:spPr/>
        <p:txBody>
          <a:bodyPr/>
          <a:lstStyle/>
          <a:p>
            <a:endParaRPr lang="en-PK"/>
          </a:p>
        </p:txBody>
      </p:sp>
      <p:pic>
        <p:nvPicPr>
          <p:cNvPr id="9" name="Content Placeholder 8">
            <a:extLst>
              <a:ext uri="{FF2B5EF4-FFF2-40B4-BE49-F238E27FC236}">
                <a16:creationId xmlns:a16="http://schemas.microsoft.com/office/drawing/2014/main" id="{883134A7-3011-1537-B8DC-391497BF9EE7}"/>
              </a:ext>
            </a:extLst>
          </p:cNvPr>
          <p:cNvPicPr>
            <a:picLocks noGrp="1" noChangeAspect="1"/>
          </p:cNvPicPr>
          <p:nvPr>
            <p:ph idx="1"/>
          </p:nvPr>
        </p:nvPicPr>
        <p:blipFill>
          <a:blip r:embed="rId2"/>
          <a:stretch>
            <a:fillRect/>
          </a:stretch>
        </p:blipFill>
        <p:spPr>
          <a:xfrm>
            <a:off x="838200" y="2480966"/>
            <a:ext cx="10515600" cy="3040655"/>
          </a:xfrm>
        </p:spPr>
      </p:pic>
    </p:spTree>
    <p:extLst>
      <p:ext uri="{BB962C8B-B14F-4D97-AF65-F5344CB8AC3E}">
        <p14:creationId xmlns:p14="http://schemas.microsoft.com/office/powerpoint/2010/main" val="24066885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6296A-5721-55F3-329B-A64DF7DF0009}"/>
              </a:ext>
            </a:extLst>
          </p:cNvPr>
          <p:cNvSpPr>
            <a:spLocks noGrp="1"/>
          </p:cNvSpPr>
          <p:nvPr>
            <p:ph type="title"/>
          </p:nvPr>
        </p:nvSpPr>
        <p:spPr/>
        <p:txBody>
          <a:bodyPr/>
          <a:lstStyle/>
          <a:p>
            <a:r>
              <a:rPr lang="en-PK" dirty="0"/>
              <a:t>Practice Questions</a:t>
            </a:r>
          </a:p>
        </p:txBody>
      </p:sp>
      <p:sp>
        <p:nvSpPr>
          <p:cNvPr id="3" name="Content Placeholder 2">
            <a:extLst>
              <a:ext uri="{FF2B5EF4-FFF2-40B4-BE49-F238E27FC236}">
                <a16:creationId xmlns:a16="http://schemas.microsoft.com/office/drawing/2014/main" id="{E6AF4ED2-41AE-B302-8AF7-BF7037372F42}"/>
              </a:ext>
            </a:extLst>
          </p:cNvPr>
          <p:cNvSpPr>
            <a:spLocks noGrp="1"/>
          </p:cNvSpPr>
          <p:nvPr>
            <p:ph idx="1"/>
          </p:nvPr>
        </p:nvSpPr>
        <p:spPr/>
        <p:txBody>
          <a:bodyPr/>
          <a:lstStyle/>
          <a:p>
            <a:r>
              <a:rPr lang="en-GB" dirty="0"/>
              <a:t>C</a:t>
            </a:r>
            <a:r>
              <a:rPr lang="en-PK" dirty="0"/>
              <a:t>reate a new button element and give it a text “Click Me”.</a:t>
            </a:r>
          </a:p>
          <a:p>
            <a:r>
              <a:rPr lang="en-GB" dirty="0"/>
              <a:t>C</a:t>
            </a:r>
            <a:r>
              <a:rPr lang="en-PK" dirty="0"/>
              <a:t>reate a &lt;p&gt; tag in html, give it a class and some styling. </a:t>
            </a:r>
            <a:r>
              <a:rPr lang="en-GB" dirty="0"/>
              <a:t>N</a:t>
            </a:r>
            <a:r>
              <a:rPr lang="en-PK" dirty="0"/>
              <a:t>ow create a new class in CSS and try to append this class to the &lt;p&gt; element.</a:t>
            </a:r>
          </a:p>
          <a:p>
            <a:pPr marL="0" indent="0">
              <a:buNone/>
            </a:pPr>
            <a:r>
              <a:rPr lang="en-GB" dirty="0"/>
              <a:t>	D</a:t>
            </a:r>
            <a:r>
              <a:rPr lang="en-PK" dirty="0"/>
              <a:t>id you notice, how you overwrite the class name when you add 	a new one?</a:t>
            </a:r>
          </a:p>
          <a:p>
            <a:pPr marL="0" indent="0">
              <a:buNone/>
            </a:pPr>
            <a:r>
              <a:rPr lang="en-GB" dirty="0"/>
              <a:t>	S</a:t>
            </a:r>
            <a:r>
              <a:rPr lang="en-PK" dirty="0"/>
              <a:t>olve this problem using classList.</a:t>
            </a:r>
          </a:p>
        </p:txBody>
      </p:sp>
    </p:spTree>
    <p:extLst>
      <p:ext uri="{BB962C8B-B14F-4D97-AF65-F5344CB8AC3E}">
        <p14:creationId xmlns:p14="http://schemas.microsoft.com/office/powerpoint/2010/main" val="16381951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20055-AD02-9373-FB2A-8BE66E722CA0}"/>
              </a:ext>
            </a:extLst>
          </p:cNvPr>
          <p:cNvSpPr>
            <a:spLocks noGrp="1"/>
          </p:cNvSpPr>
          <p:nvPr>
            <p:ph type="title"/>
          </p:nvPr>
        </p:nvSpPr>
        <p:spPr/>
        <p:txBody>
          <a:bodyPr/>
          <a:lstStyle/>
          <a:p>
            <a:r>
              <a:rPr lang="en-PK" dirty="0"/>
              <a:t>Solution - 2</a:t>
            </a:r>
          </a:p>
        </p:txBody>
      </p:sp>
      <p:pic>
        <p:nvPicPr>
          <p:cNvPr id="4" name="Content Placeholder 3">
            <a:extLst>
              <a:ext uri="{FF2B5EF4-FFF2-40B4-BE49-F238E27FC236}">
                <a16:creationId xmlns:a16="http://schemas.microsoft.com/office/drawing/2014/main" id="{7CF3DA36-70E8-A713-915E-365D9CEB97E2}"/>
              </a:ext>
            </a:extLst>
          </p:cNvPr>
          <p:cNvPicPr>
            <a:picLocks noGrp="1" noChangeAspect="1"/>
          </p:cNvPicPr>
          <p:nvPr>
            <p:ph idx="1"/>
          </p:nvPr>
        </p:nvPicPr>
        <p:blipFill>
          <a:blip r:embed="rId2"/>
          <a:stretch>
            <a:fillRect/>
          </a:stretch>
        </p:blipFill>
        <p:spPr>
          <a:xfrm>
            <a:off x="2305050" y="2293144"/>
            <a:ext cx="7581900" cy="3416300"/>
          </a:xfrm>
          <a:prstGeom prst="rect">
            <a:avLst/>
          </a:prstGeom>
        </p:spPr>
      </p:pic>
    </p:spTree>
    <p:extLst>
      <p:ext uri="{BB962C8B-B14F-4D97-AF65-F5344CB8AC3E}">
        <p14:creationId xmlns:p14="http://schemas.microsoft.com/office/powerpoint/2010/main" val="177112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0145B-054F-AD7D-AEEA-F3EE5A90E0E0}"/>
              </a:ext>
            </a:extLst>
          </p:cNvPr>
          <p:cNvSpPr>
            <a:spLocks noGrp="1"/>
          </p:cNvSpPr>
          <p:nvPr>
            <p:ph type="title"/>
          </p:nvPr>
        </p:nvSpPr>
        <p:spPr/>
        <p:txBody>
          <a:bodyPr/>
          <a:lstStyle/>
          <a:p>
            <a:r>
              <a:rPr lang="en-PK" dirty="0"/>
              <a:t>Events</a:t>
            </a:r>
          </a:p>
        </p:txBody>
      </p:sp>
      <p:sp>
        <p:nvSpPr>
          <p:cNvPr id="3" name="Content Placeholder 2">
            <a:extLst>
              <a:ext uri="{FF2B5EF4-FFF2-40B4-BE49-F238E27FC236}">
                <a16:creationId xmlns:a16="http://schemas.microsoft.com/office/drawing/2014/main" id="{4E922A32-3EF6-DB58-1B82-42319A6B22A5}"/>
              </a:ext>
            </a:extLst>
          </p:cNvPr>
          <p:cNvSpPr>
            <a:spLocks noGrp="1"/>
          </p:cNvSpPr>
          <p:nvPr>
            <p:ph idx="1"/>
          </p:nvPr>
        </p:nvSpPr>
        <p:spPr/>
        <p:txBody>
          <a:bodyPr/>
          <a:lstStyle/>
          <a:p>
            <a:r>
              <a:rPr lang="en-GB" dirty="0"/>
              <a:t>T</a:t>
            </a:r>
            <a:r>
              <a:rPr lang="en-PK" dirty="0"/>
              <a:t>he change in the state of an object is known as an event.</a:t>
            </a:r>
          </a:p>
          <a:p>
            <a:r>
              <a:rPr lang="en-GB" dirty="0"/>
              <a:t>E</a:t>
            </a:r>
            <a:r>
              <a:rPr lang="en-PK" dirty="0"/>
              <a:t>vents are fired to notify code of “interesting changes” that may affect code execution.</a:t>
            </a:r>
          </a:p>
          <a:p>
            <a:endParaRPr lang="en-PK" dirty="0"/>
          </a:p>
          <a:p>
            <a:r>
              <a:rPr lang="en-PK" dirty="0"/>
              <a:t>Mouse events (click, double click, etc.)</a:t>
            </a:r>
          </a:p>
          <a:p>
            <a:r>
              <a:rPr lang="en-PK" dirty="0"/>
              <a:t>Keyboard events(keypress, keyup, keydown etc.)</a:t>
            </a:r>
          </a:p>
          <a:p>
            <a:r>
              <a:rPr lang="en-GB" dirty="0"/>
              <a:t>F</a:t>
            </a:r>
            <a:r>
              <a:rPr lang="en-PK" dirty="0"/>
              <a:t>orm events (submit etc.)</a:t>
            </a:r>
          </a:p>
          <a:p>
            <a:r>
              <a:rPr lang="en-PK" dirty="0"/>
              <a:t>Print event &amp; many more.</a:t>
            </a:r>
          </a:p>
        </p:txBody>
      </p:sp>
    </p:spTree>
    <p:extLst>
      <p:ext uri="{BB962C8B-B14F-4D97-AF65-F5344CB8AC3E}">
        <p14:creationId xmlns:p14="http://schemas.microsoft.com/office/powerpoint/2010/main" val="1680568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A92C4-CDFC-04F1-7A31-C024CD99C527}"/>
              </a:ext>
            </a:extLst>
          </p:cNvPr>
          <p:cNvSpPr>
            <a:spLocks noGrp="1"/>
          </p:cNvSpPr>
          <p:nvPr>
            <p:ph type="title"/>
          </p:nvPr>
        </p:nvSpPr>
        <p:spPr/>
        <p:txBody>
          <a:bodyPr/>
          <a:lstStyle/>
          <a:p>
            <a:r>
              <a:rPr lang="en-PK" dirty="0"/>
              <a:t>Event handling</a:t>
            </a:r>
          </a:p>
        </p:txBody>
      </p:sp>
      <p:sp>
        <p:nvSpPr>
          <p:cNvPr id="3" name="Content Placeholder 2">
            <a:extLst>
              <a:ext uri="{FF2B5EF4-FFF2-40B4-BE49-F238E27FC236}">
                <a16:creationId xmlns:a16="http://schemas.microsoft.com/office/drawing/2014/main" id="{E336AC90-E960-F572-F7BD-5A8BA7F6E1FB}"/>
              </a:ext>
            </a:extLst>
          </p:cNvPr>
          <p:cNvSpPr>
            <a:spLocks noGrp="1"/>
          </p:cNvSpPr>
          <p:nvPr>
            <p:ph idx="1"/>
          </p:nvPr>
        </p:nvSpPr>
        <p:spPr/>
        <p:txBody>
          <a:bodyPr/>
          <a:lstStyle/>
          <a:p>
            <a:r>
              <a:rPr lang="en-PK" dirty="0"/>
              <a:t>You can add inline event handlers</a:t>
            </a:r>
          </a:p>
        </p:txBody>
      </p:sp>
      <p:pic>
        <p:nvPicPr>
          <p:cNvPr id="5" name="Picture 4">
            <a:extLst>
              <a:ext uri="{FF2B5EF4-FFF2-40B4-BE49-F238E27FC236}">
                <a16:creationId xmlns:a16="http://schemas.microsoft.com/office/drawing/2014/main" id="{616CF1A1-55F6-B262-03AA-98225A7C6ACD}"/>
              </a:ext>
            </a:extLst>
          </p:cNvPr>
          <p:cNvPicPr>
            <a:picLocks noChangeAspect="1"/>
          </p:cNvPicPr>
          <p:nvPr/>
        </p:nvPicPr>
        <p:blipFill>
          <a:blip r:embed="rId2"/>
          <a:stretch>
            <a:fillRect/>
          </a:stretch>
        </p:blipFill>
        <p:spPr>
          <a:xfrm>
            <a:off x="1037389" y="2337135"/>
            <a:ext cx="10489462" cy="3546307"/>
          </a:xfrm>
          <a:prstGeom prst="rect">
            <a:avLst/>
          </a:prstGeom>
        </p:spPr>
      </p:pic>
    </p:spTree>
    <p:extLst>
      <p:ext uri="{BB962C8B-B14F-4D97-AF65-F5344CB8AC3E}">
        <p14:creationId xmlns:p14="http://schemas.microsoft.com/office/powerpoint/2010/main" val="39996630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A809D-21E8-1CDD-D8F9-A982239BCEF3}"/>
              </a:ext>
            </a:extLst>
          </p:cNvPr>
          <p:cNvSpPr>
            <a:spLocks noGrp="1"/>
          </p:cNvSpPr>
          <p:nvPr>
            <p:ph type="title"/>
          </p:nvPr>
        </p:nvSpPr>
        <p:spPr/>
        <p:txBody>
          <a:bodyPr/>
          <a:lstStyle/>
          <a:p>
            <a:r>
              <a:rPr lang="en-PK" dirty="0"/>
              <a:t>Event handling</a:t>
            </a:r>
          </a:p>
        </p:txBody>
      </p:sp>
      <p:sp>
        <p:nvSpPr>
          <p:cNvPr id="3" name="Content Placeholder 2">
            <a:extLst>
              <a:ext uri="{FF2B5EF4-FFF2-40B4-BE49-F238E27FC236}">
                <a16:creationId xmlns:a16="http://schemas.microsoft.com/office/drawing/2014/main" id="{60409AD4-1609-DC85-D9CE-9A54EE0F455D}"/>
              </a:ext>
            </a:extLst>
          </p:cNvPr>
          <p:cNvSpPr>
            <a:spLocks noGrp="1"/>
          </p:cNvSpPr>
          <p:nvPr>
            <p:ph idx="1"/>
          </p:nvPr>
        </p:nvSpPr>
        <p:spPr/>
        <p:txBody>
          <a:bodyPr>
            <a:normAutofit fontScale="92500" lnSpcReduction="10000"/>
          </a:bodyPr>
          <a:lstStyle/>
          <a:p>
            <a:r>
              <a:rPr lang="en-PK" dirty="0"/>
              <a:t>Adding external javascript code</a:t>
            </a:r>
          </a:p>
          <a:p>
            <a:r>
              <a:rPr lang="en-GB" dirty="0"/>
              <a:t>n</a:t>
            </a:r>
            <a:r>
              <a:rPr lang="en-PK" dirty="0"/>
              <a:t>ode.event = () =&gt; {   }</a:t>
            </a:r>
          </a:p>
          <a:p>
            <a:endParaRPr lang="en-PK" dirty="0"/>
          </a:p>
          <a:p>
            <a:endParaRPr lang="en-PK" dirty="0"/>
          </a:p>
          <a:p>
            <a:endParaRPr lang="en-PK" dirty="0"/>
          </a:p>
          <a:p>
            <a:endParaRPr lang="en-PK" dirty="0"/>
          </a:p>
          <a:p>
            <a:r>
              <a:rPr lang="en-GB" dirty="0"/>
              <a:t>E</a:t>
            </a:r>
            <a:r>
              <a:rPr lang="en-PK" dirty="0"/>
              <a:t>xternal javascript code has higher precendence compared to inline javascript.</a:t>
            </a:r>
          </a:p>
          <a:p>
            <a:r>
              <a:rPr lang="en-GB" dirty="0"/>
              <a:t>I</a:t>
            </a:r>
            <a:r>
              <a:rPr lang="en-PK" dirty="0"/>
              <a:t>f two same handlers are written, then the one written last will have higher precendence</a:t>
            </a:r>
          </a:p>
          <a:p>
            <a:endParaRPr lang="en-PK" dirty="0"/>
          </a:p>
        </p:txBody>
      </p:sp>
      <p:pic>
        <p:nvPicPr>
          <p:cNvPr id="5" name="Picture 4">
            <a:extLst>
              <a:ext uri="{FF2B5EF4-FFF2-40B4-BE49-F238E27FC236}">
                <a16:creationId xmlns:a16="http://schemas.microsoft.com/office/drawing/2014/main" id="{3E2A3EE0-8305-620B-6D7E-7616581F5318}"/>
              </a:ext>
            </a:extLst>
          </p:cNvPr>
          <p:cNvPicPr>
            <a:picLocks noChangeAspect="1"/>
          </p:cNvPicPr>
          <p:nvPr/>
        </p:nvPicPr>
        <p:blipFill>
          <a:blip r:embed="rId2"/>
          <a:stretch>
            <a:fillRect/>
          </a:stretch>
        </p:blipFill>
        <p:spPr>
          <a:xfrm>
            <a:off x="3465429" y="2964114"/>
            <a:ext cx="5092700" cy="1435100"/>
          </a:xfrm>
          <a:prstGeom prst="rect">
            <a:avLst/>
          </a:prstGeom>
        </p:spPr>
      </p:pic>
    </p:spTree>
    <p:extLst>
      <p:ext uri="{BB962C8B-B14F-4D97-AF65-F5344CB8AC3E}">
        <p14:creationId xmlns:p14="http://schemas.microsoft.com/office/powerpoint/2010/main" val="38068880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1C2F9E-DB88-2C7E-E2F8-9B0B369CC5B8}"/>
              </a:ext>
            </a:extLst>
          </p:cNvPr>
          <p:cNvSpPr>
            <a:spLocks noGrp="1"/>
          </p:cNvSpPr>
          <p:nvPr>
            <p:ph type="title"/>
          </p:nvPr>
        </p:nvSpPr>
        <p:spPr/>
        <p:txBody>
          <a:bodyPr/>
          <a:lstStyle/>
          <a:p>
            <a:r>
              <a:rPr lang="en-PK" dirty="0"/>
              <a:t>Event handling</a:t>
            </a:r>
          </a:p>
        </p:txBody>
      </p:sp>
      <p:pic>
        <p:nvPicPr>
          <p:cNvPr id="5" name="Content Placeholder 4">
            <a:extLst>
              <a:ext uri="{FF2B5EF4-FFF2-40B4-BE49-F238E27FC236}">
                <a16:creationId xmlns:a16="http://schemas.microsoft.com/office/drawing/2014/main" id="{0D42F2A3-6912-C981-6550-88BED7D71DB9}"/>
              </a:ext>
            </a:extLst>
          </p:cNvPr>
          <p:cNvPicPr>
            <a:picLocks noGrp="1" noChangeAspect="1"/>
          </p:cNvPicPr>
          <p:nvPr>
            <p:ph idx="1"/>
          </p:nvPr>
        </p:nvPicPr>
        <p:blipFill>
          <a:blip r:embed="rId2"/>
          <a:stretch>
            <a:fillRect/>
          </a:stretch>
        </p:blipFill>
        <p:spPr>
          <a:xfrm>
            <a:off x="1511300" y="2107657"/>
            <a:ext cx="7023100" cy="635000"/>
          </a:xfrm>
        </p:spPr>
      </p:pic>
      <p:pic>
        <p:nvPicPr>
          <p:cNvPr id="7" name="Picture 6">
            <a:extLst>
              <a:ext uri="{FF2B5EF4-FFF2-40B4-BE49-F238E27FC236}">
                <a16:creationId xmlns:a16="http://schemas.microsoft.com/office/drawing/2014/main" id="{6EC5CCF6-5484-9533-12A5-7890877DD1FA}"/>
              </a:ext>
            </a:extLst>
          </p:cNvPr>
          <p:cNvPicPr>
            <a:picLocks noChangeAspect="1"/>
          </p:cNvPicPr>
          <p:nvPr/>
        </p:nvPicPr>
        <p:blipFill>
          <a:blip r:embed="rId3"/>
          <a:stretch>
            <a:fillRect/>
          </a:stretch>
        </p:blipFill>
        <p:spPr>
          <a:xfrm>
            <a:off x="1511300" y="3159626"/>
            <a:ext cx="4876800" cy="2451100"/>
          </a:xfrm>
          <a:prstGeom prst="rect">
            <a:avLst/>
          </a:prstGeom>
        </p:spPr>
      </p:pic>
      <p:sp>
        <p:nvSpPr>
          <p:cNvPr id="8" name="TextBox 7">
            <a:extLst>
              <a:ext uri="{FF2B5EF4-FFF2-40B4-BE49-F238E27FC236}">
                <a16:creationId xmlns:a16="http://schemas.microsoft.com/office/drawing/2014/main" id="{4A97209F-7D84-C478-A4FF-DD2E7CE58865}"/>
              </a:ext>
            </a:extLst>
          </p:cNvPr>
          <p:cNvSpPr txBox="1"/>
          <p:nvPr/>
        </p:nvSpPr>
        <p:spPr>
          <a:xfrm>
            <a:off x="6942221" y="3159626"/>
            <a:ext cx="4102768" cy="1477328"/>
          </a:xfrm>
          <a:prstGeom prst="rect">
            <a:avLst/>
          </a:prstGeom>
          <a:noFill/>
        </p:spPr>
        <p:txBody>
          <a:bodyPr wrap="square" rtlCol="0">
            <a:spAutoFit/>
          </a:bodyPr>
          <a:lstStyle/>
          <a:p>
            <a:r>
              <a:rPr lang="en-PK" dirty="0"/>
              <a:t>Here, the code written in app.js will have more precedence compared to inline javascript. And second handler in app.js has higher precendence.</a:t>
            </a:r>
          </a:p>
          <a:p>
            <a:r>
              <a:rPr lang="en-PK" dirty="0"/>
              <a:t>So Hello2 will be displayed in alert.</a:t>
            </a:r>
          </a:p>
        </p:txBody>
      </p:sp>
    </p:spTree>
    <p:extLst>
      <p:ext uri="{BB962C8B-B14F-4D97-AF65-F5344CB8AC3E}">
        <p14:creationId xmlns:p14="http://schemas.microsoft.com/office/powerpoint/2010/main" val="269765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C2BCA-40CD-F0C0-B64D-42D6BD9B0CA7}"/>
              </a:ext>
            </a:extLst>
          </p:cNvPr>
          <p:cNvSpPr>
            <a:spLocks noGrp="1"/>
          </p:cNvSpPr>
          <p:nvPr>
            <p:ph type="title"/>
          </p:nvPr>
        </p:nvSpPr>
        <p:spPr/>
        <p:txBody>
          <a:bodyPr/>
          <a:lstStyle/>
          <a:p>
            <a:r>
              <a:rPr lang="en-PK" dirty="0"/>
              <a:t>Event Object</a:t>
            </a:r>
          </a:p>
        </p:txBody>
      </p:sp>
      <p:sp>
        <p:nvSpPr>
          <p:cNvPr id="3" name="Content Placeholder 2">
            <a:extLst>
              <a:ext uri="{FF2B5EF4-FFF2-40B4-BE49-F238E27FC236}">
                <a16:creationId xmlns:a16="http://schemas.microsoft.com/office/drawing/2014/main" id="{A9C2D053-FB19-18D5-E9B7-1A3E1B8063FD}"/>
              </a:ext>
            </a:extLst>
          </p:cNvPr>
          <p:cNvSpPr>
            <a:spLocks noGrp="1"/>
          </p:cNvSpPr>
          <p:nvPr>
            <p:ph idx="1"/>
          </p:nvPr>
        </p:nvSpPr>
        <p:spPr/>
        <p:txBody>
          <a:bodyPr/>
          <a:lstStyle/>
          <a:p>
            <a:r>
              <a:rPr lang="en-GB" dirty="0"/>
              <a:t>I</a:t>
            </a:r>
            <a:r>
              <a:rPr lang="en-PK" dirty="0"/>
              <a:t>t is a special object that has details about the event.</a:t>
            </a:r>
          </a:p>
          <a:p>
            <a:r>
              <a:rPr lang="en-GB" dirty="0"/>
              <a:t>A</a:t>
            </a:r>
            <a:r>
              <a:rPr lang="en-PK" dirty="0"/>
              <a:t>ll event handlers have access to Event Object’s properties and methods.</a:t>
            </a:r>
          </a:p>
          <a:p>
            <a:pPr marL="0" indent="0">
              <a:buNone/>
            </a:pPr>
            <a:r>
              <a:rPr lang="en-GB" dirty="0"/>
              <a:t>	n</a:t>
            </a:r>
            <a:r>
              <a:rPr lang="en-PK" dirty="0"/>
              <a:t>ode.event = (</a:t>
            </a:r>
            <a:r>
              <a:rPr lang="en-PK" b="1" dirty="0">
                <a:solidFill>
                  <a:srgbClr val="7030A0"/>
                </a:solidFill>
              </a:rPr>
              <a:t>e</a:t>
            </a:r>
            <a:r>
              <a:rPr lang="en-PK" dirty="0"/>
              <a:t>)=&gt;{ </a:t>
            </a:r>
          </a:p>
          <a:p>
            <a:pPr marL="0" indent="0">
              <a:buNone/>
            </a:pPr>
            <a:r>
              <a:rPr lang="en-PK" dirty="0"/>
              <a:t>		//handle event</a:t>
            </a:r>
          </a:p>
          <a:p>
            <a:pPr marL="0" indent="0">
              <a:buNone/>
            </a:pPr>
            <a:r>
              <a:rPr lang="en-PK" dirty="0"/>
              <a:t>	}</a:t>
            </a:r>
          </a:p>
          <a:p>
            <a:r>
              <a:rPr lang="en-GB" dirty="0"/>
              <a:t>e</a:t>
            </a:r>
            <a:r>
              <a:rPr lang="en-PK" dirty="0"/>
              <a:t>.target, e.type, e.clientX, e.clientY</a:t>
            </a:r>
          </a:p>
        </p:txBody>
      </p:sp>
      <p:pic>
        <p:nvPicPr>
          <p:cNvPr id="5" name="Picture 4">
            <a:extLst>
              <a:ext uri="{FF2B5EF4-FFF2-40B4-BE49-F238E27FC236}">
                <a16:creationId xmlns:a16="http://schemas.microsoft.com/office/drawing/2014/main" id="{1F1D95B6-26B3-75D5-57F5-B205B0541B62}"/>
              </a:ext>
            </a:extLst>
          </p:cNvPr>
          <p:cNvPicPr>
            <a:picLocks noChangeAspect="1"/>
          </p:cNvPicPr>
          <p:nvPr/>
        </p:nvPicPr>
        <p:blipFill>
          <a:blip r:embed="rId2"/>
          <a:stretch>
            <a:fillRect/>
          </a:stretch>
        </p:blipFill>
        <p:spPr>
          <a:xfrm>
            <a:off x="7190873" y="2908300"/>
            <a:ext cx="4000500" cy="1498600"/>
          </a:xfrm>
          <a:prstGeom prst="rect">
            <a:avLst/>
          </a:prstGeom>
        </p:spPr>
      </p:pic>
      <p:pic>
        <p:nvPicPr>
          <p:cNvPr id="7" name="Picture 6">
            <a:extLst>
              <a:ext uri="{FF2B5EF4-FFF2-40B4-BE49-F238E27FC236}">
                <a16:creationId xmlns:a16="http://schemas.microsoft.com/office/drawing/2014/main" id="{A7BE2D65-2FC9-C75D-C6AF-4FD446CE972B}"/>
              </a:ext>
            </a:extLst>
          </p:cNvPr>
          <p:cNvPicPr>
            <a:picLocks noChangeAspect="1"/>
          </p:cNvPicPr>
          <p:nvPr/>
        </p:nvPicPr>
        <p:blipFill>
          <a:blip r:embed="rId3"/>
          <a:stretch>
            <a:fillRect/>
          </a:stretch>
        </p:blipFill>
        <p:spPr>
          <a:xfrm>
            <a:off x="6689223" y="4602163"/>
            <a:ext cx="5003800" cy="1574800"/>
          </a:xfrm>
          <a:prstGeom prst="rect">
            <a:avLst/>
          </a:prstGeom>
        </p:spPr>
      </p:pic>
    </p:spTree>
    <p:extLst>
      <p:ext uri="{BB962C8B-B14F-4D97-AF65-F5344CB8AC3E}">
        <p14:creationId xmlns:p14="http://schemas.microsoft.com/office/powerpoint/2010/main" val="3069658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E5BC-F914-1CDA-D150-9862F25722D5}"/>
              </a:ext>
            </a:extLst>
          </p:cNvPr>
          <p:cNvSpPr>
            <a:spLocks noGrp="1"/>
          </p:cNvSpPr>
          <p:nvPr>
            <p:ph type="title"/>
          </p:nvPr>
        </p:nvSpPr>
        <p:spPr/>
        <p:txBody>
          <a:bodyPr/>
          <a:lstStyle/>
          <a:p>
            <a:r>
              <a:rPr lang="en-PK" dirty="0"/>
              <a:t>Event Listeners</a:t>
            </a:r>
          </a:p>
        </p:txBody>
      </p:sp>
      <p:sp>
        <p:nvSpPr>
          <p:cNvPr id="3" name="Content Placeholder 2">
            <a:extLst>
              <a:ext uri="{FF2B5EF4-FFF2-40B4-BE49-F238E27FC236}">
                <a16:creationId xmlns:a16="http://schemas.microsoft.com/office/drawing/2014/main" id="{A3249244-EBF1-EC1A-CB0D-F29AEC8BDECD}"/>
              </a:ext>
            </a:extLst>
          </p:cNvPr>
          <p:cNvSpPr>
            <a:spLocks noGrp="1"/>
          </p:cNvSpPr>
          <p:nvPr>
            <p:ph idx="1"/>
          </p:nvPr>
        </p:nvSpPr>
        <p:spPr/>
        <p:txBody>
          <a:bodyPr/>
          <a:lstStyle/>
          <a:p>
            <a:r>
              <a:rPr lang="en-GB" dirty="0"/>
              <a:t>n</a:t>
            </a:r>
            <a:r>
              <a:rPr lang="en-PK" dirty="0"/>
              <a:t>ode.addEventListener(event, callback)</a:t>
            </a:r>
          </a:p>
          <a:p>
            <a:r>
              <a:rPr lang="en-GB" dirty="0"/>
              <a:t>n</a:t>
            </a:r>
            <a:r>
              <a:rPr lang="en-PK" dirty="0"/>
              <a:t>ode.removeEventListener(event, callback)</a:t>
            </a:r>
          </a:p>
          <a:p>
            <a:endParaRPr lang="en-GB" dirty="0"/>
          </a:p>
          <a:p>
            <a:r>
              <a:rPr lang="en-GB" dirty="0" err="1"/>
              <a:t>Callback</a:t>
            </a:r>
            <a:r>
              <a:rPr lang="en-GB" dirty="0"/>
              <a:t> is the event handler</a:t>
            </a:r>
          </a:p>
          <a:p>
            <a:r>
              <a:rPr lang="en-GB" dirty="0"/>
              <a:t>T</a:t>
            </a:r>
            <a:r>
              <a:rPr lang="en-PK" dirty="0"/>
              <a:t>he callback reference should be same to remove</a:t>
            </a:r>
          </a:p>
          <a:p>
            <a:r>
              <a:rPr lang="en-GB" dirty="0"/>
              <a:t>Y</a:t>
            </a:r>
            <a:r>
              <a:rPr lang="en-PK" dirty="0"/>
              <a:t>ou can add more than one event handlers for the same event and all of them will be executed.</a:t>
            </a:r>
          </a:p>
        </p:txBody>
      </p:sp>
    </p:spTree>
    <p:extLst>
      <p:ext uri="{BB962C8B-B14F-4D97-AF65-F5344CB8AC3E}">
        <p14:creationId xmlns:p14="http://schemas.microsoft.com/office/powerpoint/2010/main" val="4113193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8BC59-358A-8FF9-F780-7F61DFB5D0ED}"/>
              </a:ext>
            </a:extLst>
          </p:cNvPr>
          <p:cNvSpPr>
            <a:spLocks noGrp="1"/>
          </p:cNvSpPr>
          <p:nvPr>
            <p:ph type="title"/>
          </p:nvPr>
        </p:nvSpPr>
        <p:spPr/>
        <p:txBody>
          <a:bodyPr/>
          <a:lstStyle/>
          <a:p>
            <a:r>
              <a:rPr lang="en-PK" dirty="0"/>
              <a:t>Event Listeners</a:t>
            </a:r>
          </a:p>
        </p:txBody>
      </p:sp>
      <p:pic>
        <p:nvPicPr>
          <p:cNvPr id="5" name="Content Placeholder 4">
            <a:extLst>
              <a:ext uri="{FF2B5EF4-FFF2-40B4-BE49-F238E27FC236}">
                <a16:creationId xmlns:a16="http://schemas.microsoft.com/office/drawing/2014/main" id="{CB1CDEA8-3264-63D5-E4DA-BAF4B1A14CEE}"/>
              </a:ext>
            </a:extLst>
          </p:cNvPr>
          <p:cNvPicPr>
            <a:picLocks noGrp="1" noChangeAspect="1"/>
          </p:cNvPicPr>
          <p:nvPr>
            <p:ph idx="1"/>
          </p:nvPr>
        </p:nvPicPr>
        <p:blipFill>
          <a:blip r:embed="rId2"/>
          <a:stretch>
            <a:fillRect/>
          </a:stretch>
        </p:blipFill>
        <p:spPr>
          <a:xfrm>
            <a:off x="3581400" y="2655094"/>
            <a:ext cx="5029200" cy="2692400"/>
          </a:xfrm>
        </p:spPr>
      </p:pic>
    </p:spTree>
    <p:extLst>
      <p:ext uri="{BB962C8B-B14F-4D97-AF65-F5344CB8AC3E}">
        <p14:creationId xmlns:p14="http://schemas.microsoft.com/office/powerpoint/2010/main" val="7122150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62A5-5F7F-FA64-4D6B-82D0055E32E5}"/>
              </a:ext>
            </a:extLst>
          </p:cNvPr>
          <p:cNvSpPr>
            <a:spLocks noGrp="1"/>
          </p:cNvSpPr>
          <p:nvPr>
            <p:ph type="title"/>
          </p:nvPr>
        </p:nvSpPr>
        <p:spPr/>
        <p:txBody>
          <a:bodyPr/>
          <a:lstStyle/>
          <a:p>
            <a:r>
              <a:rPr lang="en-PK" dirty="0"/>
              <a:t>Event Listeners</a:t>
            </a:r>
          </a:p>
        </p:txBody>
      </p:sp>
      <p:sp>
        <p:nvSpPr>
          <p:cNvPr id="3" name="Content Placeholder 2">
            <a:extLst>
              <a:ext uri="{FF2B5EF4-FFF2-40B4-BE49-F238E27FC236}">
                <a16:creationId xmlns:a16="http://schemas.microsoft.com/office/drawing/2014/main" id="{ABE3F82B-14DA-D25E-C9D5-B2623B75FA83}"/>
              </a:ext>
            </a:extLst>
          </p:cNvPr>
          <p:cNvSpPr>
            <a:spLocks noGrp="1"/>
          </p:cNvSpPr>
          <p:nvPr>
            <p:ph idx="1"/>
          </p:nvPr>
        </p:nvSpPr>
        <p:spPr/>
        <p:txBody>
          <a:bodyPr/>
          <a:lstStyle/>
          <a:p>
            <a:r>
              <a:rPr lang="en-GB" dirty="0"/>
              <a:t>W</a:t>
            </a:r>
            <a:r>
              <a:rPr lang="en-PK" dirty="0"/>
              <a:t>hile removing event listeners, we should save the function in a variable and then remove the same function, as passing a callback declaration will be treated as a different function and will be alloted a different location in memory.</a:t>
            </a:r>
          </a:p>
        </p:txBody>
      </p:sp>
      <p:pic>
        <p:nvPicPr>
          <p:cNvPr id="5" name="Picture 4">
            <a:extLst>
              <a:ext uri="{FF2B5EF4-FFF2-40B4-BE49-F238E27FC236}">
                <a16:creationId xmlns:a16="http://schemas.microsoft.com/office/drawing/2014/main" id="{5BA6D3BA-1D4D-E95C-265E-1833F34BC84D}"/>
              </a:ext>
            </a:extLst>
          </p:cNvPr>
          <p:cNvPicPr>
            <a:picLocks noChangeAspect="1"/>
          </p:cNvPicPr>
          <p:nvPr/>
        </p:nvPicPr>
        <p:blipFill>
          <a:blip r:embed="rId2"/>
          <a:stretch>
            <a:fillRect/>
          </a:stretch>
        </p:blipFill>
        <p:spPr>
          <a:xfrm>
            <a:off x="5991726" y="3821113"/>
            <a:ext cx="5334000" cy="2120900"/>
          </a:xfrm>
          <a:prstGeom prst="rect">
            <a:avLst/>
          </a:prstGeom>
        </p:spPr>
      </p:pic>
      <p:pic>
        <p:nvPicPr>
          <p:cNvPr id="7" name="Picture 6">
            <a:extLst>
              <a:ext uri="{FF2B5EF4-FFF2-40B4-BE49-F238E27FC236}">
                <a16:creationId xmlns:a16="http://schemas.microsoft.com/office/drawing/2014/main" id="{BA684D30-B2F4-4FAE-EACD-6918B9888542}"/>
              </a:ext>
            </a:extLst>
          </p:cNvPr>
          <p:cNvPicPr>
            <a:picLocks noChangeAspect="1"/>
          </p:cNvPicPr>
          <p:nvPr/>
        </p:nvPicPr>
        <p:blipFill>
          <a:blip r:embed="rId3"/>
          <a:stretch>
            <a:fillRect/>
          </a:stretch>
        </p:blipFill>
        <p:spPr>
          <a:xfrm>
            <a:off x="536408" y="3586163"/>
            <a:ext cx="4838700" cy="2590800"/>
          </a:xfrm>
          <a:prstGeom prst="rect">
            <a:avLst/>
          </a:prstGeom>
        </p:spPr>
      </p:pic>
      <p:sp>
        <p:nvSpPr>
          <p:cNvPr id="8" name="TextBox 7">
            <a:extLst>
              <a:ext uri="{FF2B5EF4-FFF2-40B4-BE49-F238E27FC236}">
                <a16:creationId xmlns:a16="http://schemas.microsoft.com/office/drawing/2014/main" id="{B8898F7A-B626-176A-A3F6-C2EAD696A724}"/>
              </a:ext>
            </a:extLst>
          </p:cNvPr>
          <p:cNvSpPr txBox="1"/>
          <p:nvPr/>
        </p:nvSpPr>
        <p:spPr>
          <a:xfrm>
            <a:off x="1768643" y="6308209"/>
            <a:ext cx="2635658" cy="369332"/>
          </a:xfrm>
          <a:prstGeom prst="rect">
            <a:avLst/>
          </a:prstGeom>
          <a:noFill/>
        </p:spPr>
        <p:txBody>
          <a:bodyPr wrap="none" rtlCol="0">
            <a:spAutoFit/>
          </a:bodyPr>
          <a:lstStyle/>
          <a:p>
            <a:r>
              <a:rPr lang="en-PK" dirty="0"/>
              <a:t>Event will not be removed</a:t>
            </a:r>
          </a:p>
        </p:txBody>
      </p:sp>
      <p:sp>
        <p:nvSpPr>
          <p:cNvPr id="10" name="TextBox 9">
            <a:extLst>
              <a:ext uri="{FF2B5EF4-FFF2-40B4-BE49-F238E27FC236}">
                <a16:creationId xmlns:a16="http://schemas.microsoft.com/office/drawing/2014/main" id="{34F6D774-08D2-1320-01A4-F6ED1F0F4E6C}"/>
              </a:ext>
            </a:extLst>
          </p:cNvPr>
          <p:cNvSpPr txBox="1"/>
          <p:nvPr/>
        </p:nvSpPr>
        <p:spPr>
          <a:xfrm>
            <a:off x="7046625" y="6143429"/>
            <a:ext cx="2315057" cy="369332"/>
          </a:xfrm>
          <a:prstGeom prst="rect">
            <a:avLst/>
          </a:prstGeom>
          <a:noFill/>
        </p:spPr>
        <p:txBody>
          <a:bodyPr wrap="none" rtlCol="0">
            <a:spAutoFit/>
          </a:bodyPr>
          <a:lstStyle/>
          <a:p>
            <a:r>
              <a:rPr lang="en-PK" dirty="0"/>
              <a:t>Event will be removed</a:t>
            </a:r>
          </a:p>
        </p:txBody>
      </p:sp>
    </p:spTree>
    <p:extLst>
      <p:ext uri="{BB962C8B-B14F-4D97-AF65-F5344CB8AC3E}">
        <p14:creationId xmlns:p14="http://schemas.microsoft.com/office/powerpoint/2010/main" val="3113229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FD0F9-10DE-7B3A-1832-FB852FDEF8DE}"/>
              </a:ext>
            </a:extLst>
          </p:cNvPr>
          <p:cNvSpPr>
            <a:spLocks noGrp="1"/>
          </p:cNvSpPr>
          <p:nvPr>
            <p:ph type="title"/>
          </p:nvPr>
        </p:nvSpPr>
        <p:spPr/>
        <p:txBody>
          <a:bodyPr/>
          <a:lstStyle/>
          <a:p>
            <a:r>
              <a:rPr lang="en-PK" dirty="0"/>
              <a:t>Practice Question</a:t>
            </a:r>
          </a:p>
        </p:txBody>
      </p:sp>
      <p:sp>
        <p:nvSpPr>
          <p:cNvPr id="3" name="Content Placeholder 2">
            <a:extLst>
              <a:ext uri="{FF2B5EF4-FFF2-40B4-BE49-F238E27FC236}">
                <a16:creationId xmlns:a16="http://schemas.microsoft.com/office/drawing/2014/main" id="{235078B8-6679-9333-D0CD-B2EA59A835C5}"/>
              </a:ext>
            </a:extLst>
          </p:cNvPr>
          <p:cNvSpPr>
            <a:spLocks noGrp="1"/>
          </p:cNvSpPr>
          <p:nvPr>
            <p:ph idx="1"/>
          </p:nvPr>
        </p:nvSpPr>
        <p:spPr/>
        <p:txBody>
          <a:bodyPr/>
          <a:lstStyle/>
          <a:p>
            <a:r>
              <a:rPr lang="en-PK" dirty="0"/>
              <a:t>Create a toggle button that changes the screen to dark mode when clicked and light mode when clicked again.</a:t>
            </a:r>
          </a:p>
          <a:p>
            <a:r>
              <a:rPr lang="en-PK" dirty="0"/>
              <a:t>Build a tic-tac-toe game.</a:t>
            </a:r>
          </a:p>
        </p:txBody>
      </p:sp>
      <p:pic>
        <p:nvPicPr>
          <p:cNvPr id="5" name="Picture 4">
            <a:extLst>
              <a:ext uri="{FF2B5EF4-FFF2-40B4-BE49-F238E27FC236}">
                <a16:creationId xmlns:a16="http://schemas.microsoft.com/office/drawing/2014/main" id="{A9EF8723-3731-E4DC-2BBC-ED171BF3FE5C}"/>
              </a:ext>
            </a:extLst>
          </p:cNvPr>
          <p:cNvPicPr>
            <a:picLocks noChangeAspect="1"/>
          </p:cNvPicPr>
          <p:nvPr/>
        </p:nvPicPr>
        <p:blipFill>
          <a:blip r:embed="rId2"/>
          <a:stretch>
            <a:fillRect/>
          </a:stretch>
        </p:blipFill>
        <p:spPr>
          <a:xfrm>
            <a:off x="1459164" y="3279775"/>
            <a:ext cx="3378200" cy="3213100"/>
          </a:xfrm>
          <a:prstGeom prst="rect">
            <a:avLst/>
          </a:prstGeom>
        </p:spPr>
      </p:pic>
    </p:spTree>
    <p:extLst>
      <p:ext uri="{BB962C8B-B14F-4D97-AF65-F5344CB8AC3E}">
        <p14:creationId xmlns:p14="http://schemas.microsoft.com/office/powerpoint/2010/main" val="41602170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7C098-E729-D12A-D771-4D422CA855DE}"/>
              </a:ext>
            </a:extLst>
          </p:cNvPr>
          <p:cNvSpPr>
            <a:spLocks noGrp="1"/>
          </p:cNvSpPr>
          <p:nvPr>
            <p:ph type="title"/>
          </p:nvPr>
        </p:nvSpPr>
        <p:spPr/>
        <p:txBody>
          <a:bodyPr/>
          <a:lstStyle/>
          <a:p>
            <a:r>
              <a:rPr lang="en-PK" dirty="0"/>
              <a:t>Tic-tac-toe</a:t>
            </a:r>
          </a:p>
        </p:txBody>
      </p:sp>
      <p:sp>
        <p:nvSpPr>
          <p:cNvPr id="3" name="Content Placeholder 2">
            <a:extLst>
              <a:ext uri="{FF2B5EF4-FFF2-40B4-BE49-F238E27FC236}">
                <a16:creationId xmlns:a16="http://schemas.microsoft.com/office/drawing/2014/main" id="{467B9CC5-DED3-628B-15FE-662D8DB8789A}"/>
              </a:ext>
            </a:extLst>
          </p:cNvPr>
          <p:cNvSpPr>
            <a:spLocks noGrp="1"/>
          </p:cNvSpPr>
          <p:nvPr>
            <p:ph idx="1"/>
          </p:nvPr>
        </p:nvSpPr>
        <p:spPr>
          <a:xfrm>
            <a:off x="838200" y="1825625"/>
            <a:ext cx="5670884" cy="4351338"/>
          </a:xfrm>
        </p:spPr>
        <p:txBody>
          <a:bodyPr/>
          <a:lstStyle/>
          <a:p>
            <a:r>
              <a:rPr lang="en-PK" dirty="0"/>
              <a:t>Logic:</a:t>
            </a:r>
          </a:p>
          <a:p>
            <a:pPr lvl="1"/>
            <a:r>
              <a:rPr lang="en-GB" dirty="0"/>
              <a:t>T</a:t>
            </a:r>
            <a:r>
              <a:rPr lang="en-PK" dirty="0"/>
              <a:t>rack the id of the 0-8 boxes</a:t>
            </a:r>
          </a:p>
          <a:p>
            <a:pPr lvl="1"/>
            <a:r>
              <a:rPr lang="en-GB" dirty="0"/>
              <a:t>I</a:t>
            </a:r>
            <a:r>
              <a:rPr lang="en-PK" dirty="0"/>
              <a:t>dentify the winning pattern: for e.g: in horizontal orientation, we have three winning patterns (0,1,2), (3,4,5) and (6,7,8). There are total 8 winning patterns.</a:t>
            </a:r>
          </a:p>
          <a:p>
            <a:pPr lvl="1"/>
            <a:r>
              <a:rPr lang="en-GB" dirty="0"/>
              <a:t>T</a:t>
            </a:r>
            <a:r>
              <a:rPr lang="en-PK" dirty="0"/>
              <a:t>hese boxes should be clickable </a:t>
            </a:r>
            <a:r>
              <a:rPr lang="en-PK"/>
              <a:t>so better </a:t>
            </a:r>
            <a:r>
              <a:rPr lang="en-PK" dirty="0"/>
              <a:t>to create buttons</a:t>
            </a:r>
          </a:p>
        </p:txBody>
      </p:sp>
      <p:pic>
        <p:nvPicPr>
          <p:cNvPr id="5" name="Picture 4">
            <a:extLst>
              <a:ext uri="{FF2B5EF4-FFF2-40B4-BE49-F238E27FC236}">
                <a16:creationId xmlns:a16="http://schemas.microsoft.com/office/drawing/2014/main" id="{C970C909-2CEB-E780-7AAE-902E59C193A8}"/>
              </a:ext>
            </a:extLst>
          </p:cNvPr>
          <p:cNvPicPr>
            <a:picLocks noChangeAspect="1"/>
          </p:cNvPicPr>
          <p:nvPr/>
        </p:nvPicPr>
        <p:blipFill>
          <a:blip r:embed="rId2"/>
          <a:stretch>
            <a:fillRect/>
          </a:stretch>
        </p:blipFill>
        <p:spPr>
          <a:xfrm>
            <a:off x="6801852" y="2002924"/>
            <a:ext cx="4267200" cy="3670300"/>
          </a:xfrm>
          <a:prstGeom prst="rect">
            <a:avLst/>
          </a:prstGeom>
        </p:spPr>
      </p:pic>
    </p:spTree>
    <p:extLst>
      <p:ext uri="{BB962C8B-B14F-4D97-AF65-F5344CB8AC3E}">
        <p14:creationId xmlns:p14="http://schemas.microsoft.com/office/powerpoint/2010/main" val="11017184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1CF06-5DD8-4B9A-ABBA-096EED90EF34}"/>
              </a:ext>
            </a:extLst>
          </p:cNvPr>
          <p:cNvSpPr>
            <a:spLocks noGrp="1"/>
          </p:cNvSpPr>
          <p:nvPr>
            <p:ph type="title"/>
          </p:nvPr>
        </p:nvSpPr>
        <p:spPr/>
        <p:txBody>
          <a:bodyPr/>
          <a:lstStyle/>
          <a:p>
            <a:r>
              <a:rPr lang="en-PK" dirty="0"/>
              <a:t>Event Loop</a:t>
            </a:r>
          </a:p>
        </p:txBody>
      </p:sp>
      <p:pic>
        <p:nvPicPr>
          <p:cNvPr id="5" name="Content Placeholder 4">
            <a:extLst>
              <a:ext uri="{FF2B5EF4-FFF2-40B4-BE49-F238E27FC236}">
                <a16:creationId xmlns:a16="http://schemas.microsoft.com/office/drawing/2014/main" id="{8223676A-CA97-D9FA-B42C-E667156AEA28}"/>
              </a:ext>
            </a:extLst>
          </p:cNvPr>
          <p:cNvPicPr>
            <a:picLocks noGrp="1" noChangeAspect="1"/>
          </p:cNvPicPr>
          <p:nvPr>
            <p:ph idx="1"/>
          </p:nvPr>
        </p:nvPicPr>
        <p:blipFill>
          <a:blip r:embed="rId3"/>
          <a:stretch>
            <a:fillRect/>
          </a:stretch>
        </p:blipFill>
        <p:spPr>
          <a:xfrm>
            <a:off x="1994310" y="1690688"/>
            <a:ext cx="8203380" cy="4112455"/>
          </a:xfrm>
        </p:spPr>
      </p:pic>
    </p:spTree>
    <p:extLst>
      <p:ext uri="{BB962C8B-B14F-4D97-AF65-F5344CB8AC3E}">
        <p14:creationId xmlns:p14="http://schemas.microsoft.com/office/powerpoint/2010/main" val="27265481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68ea051-e2e2-453b-9f50-a4e2ec04a1c5">
      <Terms xmlns="http://schemas.microsoft.com/office/infopath/2007/PartnerControls"/>
    </lcf76f155ced4ddcb4097134ff3c332f>
    <TaxCatchAll xmlns="e8e88118-ec11-420b-97ad-3c3d8d42402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242F4B7271E1A4782DF661BFB2A1A89" ma:contentTypeVersion="10" ma:contentTypeDescription="Create a new document." ma:contentTypeScope="" ma:versionID="f222a0066a42d5ea1d99733186c0bccd">
  <xsd:schema xmlns:xsd="http://www.w3.org/2001/XMLSchema" xmlns:xs="http://www.w3.org/2001/XMLSchema" xmlns:p="http://schemas.microsoft.com/office/2006/metadata/properties" xmlns:ns2="468ea051-e2e2-453b-9f50-a4e2ec04a1c5" xmlns:ns3="e8e88118-ec11-420b-97ad-3c3d8d424028" targetNamespace="http://schemas.microsoft.com/office/2006/metadata/properties" ma:root="true" ma:fieldsID="30999897b4192772d10c9a278254d188" ns2:_="" ns3:_="">
    <xsd:import namespace="468ea051-e2e2-453b-9f50-a4e2ec04a1c5"/>
    <xsd:import namespace="e8e88118-ec11-420b-97ad-3c3d8d42402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8ea051-e2e2-453b-9f50-a4e2ec04a1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982d53a-bb51-487e-8db8-b606b23a34a3"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8e88118-ec11-420b-97ad-3c3d8d42402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d58e645-d968-419e-9ec7-8a5d84dc1e42}" ma:internalName="TaxCatchAll" ma:showField="CatchAllData" ma:web="e8e88118-ec11-420b-97ad-3c3d8d42402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232E273-FC58-4516-A031-82040ED6843F}">
  <ds:schemaRefs>
    <ds:schemaRef ds:uri="http://schemas.microsoft.com/office/2006/metadata/properties"/>
    <ds:schemaRef ds:uri="http://schemas.microsoft.com/office/infopath/2007/PartnerControls"/>
    <ds:schemaRef ds:uri="468ea051-e2e2-453b-9f50-a4e2ec04a1c5"/>
    <ds:schemaRef ds:uri="e8e88118-ec11-420b-97ad-3c3d8d424028"/>
  </ds:schemaRefs>
</ds:datastoreItem>
</file>

<file path=customXml/itemProps2.xml><?xml version="1.0" encoding="utf-8"?>
<ds:datastoreItem xmlns:ds="http://schemas.openxmlformats.org/officeDocument/2006/customXml" ds:itemID="{4445C82A-A65F-4BC7-9E03-4EC73CD17A13}">
  <ds:schemaRefs>
    <ds:schemaRef ds:uri="http://schemas.microsoft.com/sharepoint/v3/contenttype/forms"/>
  </ds:schemaRefs>
</ds:datastoreItem>
</file>

<file path=customXml/itemProps3.xml><?xml version="1.0" encoding="utf-8"?>
<ds:datastoreItem xmlns:ds="http://schemas.openxmlformats.org/officeDocument/2006/customXml" ds:itemID="{F45BCC57-CA31-47BD-BE24-85E8BB8F94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8ea051-e2e2-453b-9f50-a4e2ec04a1c5"/>
    <ds:schemaRef ds:uri="e8e88118-ec11-420b-97ad-3c3d8d4240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7725</TotalTime>
  <Words>1105</Words>
  <Application>Microsoft Office PowerPoint</Application>
  <PresentationFormat>Widescreen</PresentationFormat>
  <Paragraphs>112</Paragraphs>
  <Slides>29</Slides>
  <Notes>2</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Office Theme</vt:lpstr>
      <vt:lpstr>Javascript</vt:lpstr>
      <vt:lpstr>BOM</vt:lpstr>
      <vt:lpstr>Window Object</vt:lpstr>
      <vt:lpstr>window Object</vt:lpstr>
      <vt:lpstr>PowerPoint Presentation</vt:lpstr>
      <vt:lpstr>Document Object Model (DOM)</vt:lpstr>
      <vt:lpstr>DOM Manipulation</vt:lpstr>
      <vt:lpstr>document.querySelector</vt:lpstr>
      <vt:lpstr>DOM manipulation</vt:lpstr>
      <vt:lpstr>Practice questions</vt:lpstr>
      <vt:lpstr>DOM manipulation</vt:lpstr>
      <vt:lpstr>DOM Manipulation</vt:lpstr>
      <vt:lpstr>PowerPoint Presentation</vt:lpstr>
      <vt:lpstr>PowerPoint Presentation</vt:lpstr>
      <vt:lpstr>PowerPoint Presentation</vt:lpstr>
      <vt:lpstr>PowerPoint Presentation</vt:lpstr>
      <vt:lpstr>Practice Questions</vt:lpstr>
      <vt:lpstr>Solution - 2</vt:lpstr>
      <vt:lpstr>Events</vt:lpstr>
      <vt:lpstr>Event handling</vt:lpstr>
      <vt:lpstr>Event handling</vt:lpstr>
      <vt:lpstr>Event handling</vt:lpstr>
      <vt:lpstr>Event Object</vt:lpstr>
      <vt:lpstr>Event Listeners</vt:lpstr>
      <vt:lpstr>Event Listeners</vt:lpstr>
      <vt:lpstr>Event Listeners</vt:lpstr>
      <vt:lpstr>Practice Question</vt:lpstr>
      <vt:lpstr>Tic-tac-toe</vt:lpstr>
      <vt:lpstr>Event Loop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dc:title>
  <dc:creator>Najla</dc:creator>
  <cp:lastModifiedBy>Najla</cp:lastModifiedBy>
  <cp:revision>69</cp:revision>
  <dcterms:created xsi:type="dcterms:W3CDTF">2024-11-25T09:53:32Z</dcterms:created>
  <dcterms:modified xsi:type="dcterms:W3CDTF">2026-04-14T08:20:57Z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0x0101004242F4B7271E1A4782DF661BFB2A1A89</vt:lpwstr>
  </property>
</Properties>
</file>