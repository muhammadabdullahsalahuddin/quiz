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notesMasterIdLst>
    <p:notesMasterId r:id="rId28"/>
  </p:notesMasterIdLst>
  <p:sldIdLst>
    <p:sldId id="256" r:id="rId5"/>
    <p:sldId id="264" r:id="rId6"/>
    <p:sldId id="258" r:id="rId7"/>
    <p:sldId id="268" r:id="rId8"/>
    <p:sldId id="260" r:id="rId9"/>
    <p:sldId id="263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75" r:id="rId18"/>
    <p:sldId id="284" r:id="rId19"/>
    <p:sldId id="277" r:id="rId20"/>
    <p:sldId id="276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6"/>
    <p:restoredTop sz="83985"/>
  </p:normalViewPr>
  <p:slideViewPr>
    <p:cSldViewPr snapToGrid="0">
      <p:cViewPr>
        <p:scale>
          <a:sx n="110" d="100"/>
          <a:sy n="110" d="100"/>
        </p:scale>
        <p:origin x="2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C0CE6-1C27-FB40-B33F-E8742B4725AE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82B77-89A7-9444-94C9-1D043C8D54A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303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568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PK" dirty="0"/>
              <a:t>nfocus: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Element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receives focus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usually by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clicking into it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 using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Tab key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2215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MinionPro"/>
              </a:rPr>
              <a:t>The enclosing object is the button element’s object. The button element’s object has a </a:t>
            </a:r>
            <a:r>
              <a:rPr lang="en-GB" sz="1800" dirty="0">
                <a:effectLst/>
                <a:latin typeface="CourierStd"/>
              </a:rPr>
              <a:t>form </a:t>
            </a:r>
            <a:r>
              <a:rPr lang="en-GB" sz="1800" dirty="0">
                <a:effectLst/>
                <a:latin typeface="MinionPro"/>
              </a:rPr>
              <a:t>property that holds the form that surrounds the button. Therefore, we can pass the form object to the </a:t>
            </a:r>
            <a:r>
              <a:rPr lang="en-GB" sz="1800" dirty="0" err="1">
                <a:effectLst/>
                <a:latin typeface="CourierStd"/>
              </a:rPr>
              <a:t>generateEmail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function by calling </a:t>
            </a:r>
            <a:r>
              <a:rPr lang="en-GB" sz="1800" dirty="0" err="1">
                <a:effectLst/>
                <a:latin typeface="CourierStd"/>
              </a:rPr>
              <a:t>generateEmail</a:t>
            </a:r>
            <a:r>
              <a:rPr lang="en-GB" sz="1800" dirty="0">
                <a:effectLst/>
                <a:latin typeface="CourierStd"/>
              </a:rPr>
              <a:t>(</a:t>
            </a:r>
            <a:r>
              <a:rPr lang="en-GB" sz="1800" dirty="0" err="1">
                <a:effectLst/>
                <a:latin typeface="CourierStd"/>
              </a:rPr>
              <a:t>this.form</a:t>
            </a:r>
            <a:r>
              <a:rPr lang="en-GB" sz="1800" dirty="0">
                <a:effectLst/>
                <a:latin typeface="CourierStd"/>
              </a:rPr>
              <a:t>)</a:t>
            </a:r>
            <a:r>
              <a:rPr lang="en-GB" sz="1800" dirty="0">
                <a:effectLst/>
                <a:latin typeface="MinionPro"/>
              </a:rPr>
              <a:t>. </a:t>
            </a:r>
            <a:endParaRPr lang="en-GB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107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MinionPro"/>
              </a:rPr>
              <a:t>To access the controls that are within a form, we use the form object’s </a:t>
            </a:r>
            <a:r>
              <a:rPr lang="en-GB" sz="1800" dirty="0">
                <a:effectLst/>
                <a:latin typeface="CourierStd"/>
              </a:rPr>
              <a:t>elements </a:t>
            </a:r>
            <a:r>
              <a:rPr lang="en-GB" sz="1800" dirty="0">
                <a:effectLst/>
                <a:latin typeface="MinionPro"/>
              </a:rPr>
              <a:t>property. The </a:t>
            </a:r>
            <a:r>
              <a:rPr lang="en-GB" sz="1800" dirty="0">
                <a:effectLst/>
                <a:latin typeface="CourierStd"/>
              </a:rPr>
              <a:t>elements </a:t>
            </a:r>
            <a:r>
              <a:rPr lang="en-GB" sz="1800" dirty="0">
                <a:effectLst/>
                <a:latin typeface="MinionPro"/>
              </a:rPr>
              <a:t>property holds a collection of controls, where a </a:t>
            </a:r>
            <a:r>
              <a:rPr lang="en-GB" sz="1800" i="1" dirty="0">
                <a:effectLst/>
                <a:latin typeface="MinionPro"/>
              </a:rPr>
              <a:t>collection </a:t>
            </a:r>
            <a:r>
              <a:rPr lang="en-GB" sz="1800" dirty="0">
                <a:effectLst/>
                <a:latin typeface="MinionPro"/>
              </a:rPr>
              <a:t>is a group of items that are of the same type. To access a control within the </a:t>
            </a:r>
            <a:r>
              <a:rPr lang="en-GB" sz="1800" dirty="0">
                <a:effectLst/>
                <a:latin typeface="CourierStd"/>
              </a:rPr>
              <a:t>elements </a:t>
            </a:r>
            <a:r>
              <a:rPr lang="en-GB" sz="1800" dirty="0">
                <a:effectLst/>
                <a:latin typeface="MinionPro"/>
              </a:rPr>
              <a:t>collection, you put quotes around the control’s </a:t>
            </a:r>
            <a:r>
              <a:rPr lang="en-GB" sz="1800" dirty="0">
                <a:effectLst/>
                <a:latin typeface="CourierStd"/>
              </a:rPr>
              <a:t>id </a:t>
            </a:r>
            <a:r>
              <a:rPr lang="en-GB" sz="1800" dirty="0">
                <a:effectLst/>
                <a:latin typeface="MinionPro"/>
              </a:rPr>
              <a:t>value and surround the quoted value with </a:t>
            </a:r>
            <a:r>
              <a:rPr lang="en-GB" sz="1800" dirty="0">
                <a:effectLst/>
                <a:latin typeface="CourierStd"/>
              </a:rPr>
              <a:t>[]</a:t>
            </a:r>
            <a:r>
              <a:rPr lang="en-GB" sz="1800" dirty="0">
                <a:effectLst/>
                <a:latin typeface="MinionPro"/>
              </a:rPr>
              <a:t>’s. </a:t>
            </a:r>
            <a:endParaRPr lang="en-GB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545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3642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?= means any character ahead</a:t>
            </a:r>
          </a:p>
          <a:p>
            <a:r>
              <a:rPr lang="en-PK" dirty="0"/>
              <a:t>. </a:t>
            </a:r>
            <a:r>
              <a:rPr lang="en-GB" dirty="0"/>
              <a:t>M</a:t>
            </a:r>
            <a:r>
              <a:rPr lang="en-PK" dirty="0"/>
              <a:t>eans any character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</a:t>
            </a:r>
            <a:r>
              <a:rPr lang="en-PK" dirty="0"/>
              <a:t>eans zero or more 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PK" dirty="0"/>
          </a:p>
          <a:p>
            <a:r>
              <a:rPr lang="en-GB" dirty="0"/>
              <a:t>[] — Character Set (Character Class)</a:t>
            </a:r>
          </a:p>
          <a:p>
            <a:r>
              <a:rPr lang="en-GB" dirty="0"/>
              <a:t>() — Grouping &amp; Capturing</a:t>
            </a:r>
          </a:p>
          <a:p>
            <a:pPr lvl="1"/>
            <a:r>
              <a:rPr lang="en-GB" dirty="0"/>
              <a:t>(</a:t>
            </a:r>
            <a:r>
              <a:rPr lang="en-GB" dirty="0" err="1"/>
              <a:t>abc</a:t>
            </a:r>
            <a:r>
              <a:rPr lang="en-GB" dirty="0"/>
              <a:t>) → matches the exact string '</a:t>
            </a:r>
            <a:r>
              <a:rPr lang="en-GB" dirty="0" err="1"/>
              <a:t>abc</a:t>
            </a:r>
            <a:r>
              <a:rPr lang="en-GB" dirty="0"/>
              <a:t>'</a:t>
            </a:r>
          </a:p>
          <a:p>
            <a:pPr lvl="1"/>
            <a:r>
              <a:rPr lang="en-GB" dirty="0"/>
              <a:t>(</a:t>
            </a:r>
            <a:r>
              <a:rPr lang="en-GB" dirty="0" err="1"/>
              <a:t>a|b</a:t>
            </a:r>
            <a:r>
              <a:rPr lang="en-GB" dirty="0"/>
              <a:t>)c → matches 'ac' or '</a:t>
            </a:r>
            <a:r>
              <a:rPr lang="en-GB" dirty="0" err="1"/>
              <a:t>bc</a:t>
            </a:r>
            <a:r>
              <a:rPr lang="en-GB" dirty="0"/>
              <a:t>'</a:t>
            </a:r>
          </a:p>
          <a:p>
            <a:pPr lvl="1"/>
            <a:r>
              <a:rPr lang="en-GB" dirty="0"/>
              <a:t>(ab){3} → matches '</a:t>
            </a:r>
            <a:r>
              <a:rPr lang="en-GB" dirty="0" err="1"/>
              <a:t>ababab</a:t>
            </a:r>
            <a:r>
              <a:rPr lang="en-GB" dirty="0"/>
              <a:t>’</a:t>
            </a:r>
            <a:endParaRPr lang="en-PK" dirty="0"/>
          </a:p>
          <a:p>
            <a:r>
              <a:rPr lang="en-GB" dirty="0"/>
              <a:t>{} — Quantifiers</a:t>
            </a:r>
          </a:p>
          <a:p>
            <a:pPr lvl="1"/>
            <a:r>
              <a:rPr lang="en-GB" dirty="0"/>
              <a:t>a{3} → matches '</a:t>
            </a:r>
            <a:r>
              <a:rPr lang="en-GB" dirty="0" err="1"/>
              <a:t>aaa</a:t>
            </a:r>
            <a:r>
              <a:rPr lang="en-GB" dirty="0"/>
              <a:t>'</a:t>
            </a:r>
          </a:p>
          <a:p>
            <a:pPr lvl="1"/>
            <a:r>
              <a:rPr lang="en-GB" dirty="0"/>
              <a:t>\d{2,4} → matches 2 to 4 digits</a:t>
            </a:r>
          </a:p>
          <a:p>
            <a:pPr lvl="1"/>
            <a:r>
              <a:rPr lang="en-GB" dirty="0"/>
              <a:t>a{1,} → at least one ’a. always use lower bound in </a:t>
            </a:r>
            <a:r>
              <a:rPr lang="en-GB" dirty="0" err="1"/>
              <a:t>javascript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0924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pattern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Enforces a specific format using a regular expression. In this example: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[a-z0-9._%+-]+ ensures the local part of the email includes valid characters.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@[a-z0-9.-]+ matches the domain part.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\.[a-z]{2,}$ ensures a valid top-level domain (e.g., .com, .org).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2B77-89A7-9444-94C9-1D043C8D54AB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209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113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880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657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990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375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889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8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31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613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151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83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32716-6D77-B947-9D4E-664DA007E92C}" type="datetimeFigureOut">
              <a:rPr lang="en-PK" smtClean="0"/>
              <a:t>04/14/2026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862CFFD-78DC-D245-939A-B24DDF6A3E6A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928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98A2-6D3A-5077-E6AC-E14A79445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/>
              <a:t>Topics in Cybersecurity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E988E-4758-CF7D-36FA-DC3D07994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K" dirty="0"/>
              <a:t>Javascript (DOM manipulation)</a:t>
            </a:r>
          </a:p>
        </p:txBody>
      </p:sp>
    </p:spTree>
    <p:extLst>
      <p:ext uri="{BB962C8B-B14F-4D97-AF65-F5344CB8AC3E}">
        <p14:creationId xmlns:p14="http://schemas.microsoft.com/office/powerpoint/2010/main" val="239615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519E-1DAC-1EA9-157A-C47ECFEF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Document Object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CD74-A259-F17B-E766-04B9AC92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3292" cy="4351338"/>
          </a:xfrm>
        </p:spPr>
        <p:txBody>
          <a:bodyPr>
            <a:normAutofit fontScale="92500" lnSpcReduction="20000"/>
          </a:bodyPr>
          <a:lstStyle/>
          <a:p>
            <a:r>
              <a:rPr lang="en-GB" sz="1800" dirty="0">
                <a:effectLst/>
                <a:latin typeface="MinionPro"/>
              </a:rPr>
              <a:t>The Document Object Model (DOM) models all of the parts of a web page document as nodes in a node tree. </a:t>
            </a:r>
          </a:p>
          <a:p>
            <a:r>
              <a:rPr lang="en-GB" sz="1800" dirty="0">
                <a:effectLst/>
                <a:latin typeface="MinionPro"/>
              </a:rPr>
              <a:t>A node tree is similar to a directory tree, it shows web page elements that include other elements (and text and attributes). </a:t>
            </a:r>
          </a:p>
          <a:p>
            <a:r>
              <a:rPr lang="en-GB" sz="1800" dirty="0">
                <a:effectLst/>
                <a:latin typeface="MinionPro"/>
              </a:rPr>
              <a:t>Each node represents either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dirty="0">
                <a:effectLst/>
                <a:latin typeface="MinionPro"/>
              </a:rPr>
              <a:t>an element,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dirty="0">
                <a:effectLst/>
                <a:latin typeface="MinionPro"/>
              </a:rPr>
              <a:t>a text item that appears between an element’s start and end tags, or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dirty="0">
                <a:effectLst/>
                <a:latin typeface="MinionPro"/>
              </a:rPr>
              <a:t>an attribute within one of the elements. 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88A1C-20B6-EEA6-D52F-1B4EC67B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381" y="1557447"/>
            <a:ext cx="6821862" cy="488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7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1B1E-6180-DE03-5835-FE29006A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Hello World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42868D-F74D-795A-3ABD-18FA55F79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0432" y="1744276"/>
            <a:ext cx="7147773" cy="4942937"/>
          </a:xfrm>
        </p:spPr>
      </p:pic>
    </p:spTree>
    <p:extLst>
      <p:ext uri="{BB962C8B-B14F-4D97-AF65-F5344CB8AC3E}">
        <p14:creationId xmlns:p14="http://schemas.microsoft.com/office/powerpoint/2010/main" val="37686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9114-1F88-BAD6-5F1E-3F601AD0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Changing HTML content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3FB865-F217-9295-D5D1-7DA8FBB6E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897" y="1470733"/>
            <a:ext cx="7213600" cy="2095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573FA2-7F55-1BF5-9E5F-0D25DB1D2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805" y="3654339"/>
            <a:ext cx="72644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0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E849-4B2E-D27D-751C-4AC33670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1687-2232-6C8D-CFC8-3F59223E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1800" dirty="0">
                <a:effectLst/>
                <a:latin typeface="MinionPro"/>
              </a:rPr>
              <a:t>The </a:t>
            </a:r>
            <a:r>
              <a:rPr lang="en-GB" sz="1800" dirty="0">
                <a:effectLst/>
                <a:latin typeface="CourierStd"/>
              </a:rPr>
              <a:t>input </a:t>
            </a:r>
            <a:r>
              <a:rPr lang="en-GB" sz="1800" dirty="0">
                <a:effectLst/>
                <a:latin typeface="MinionPro"/>
              </a:rPr>
              <a:t>element’s </a:t>
            </a:r>
            <a:r>
              <a:rPr lang="en-GB" sz="1800" dirty="0">
                <a:effectLst/>
                <a:latin typeface="CourierStd"/>
              </a:rPr>
              <a:t>onclick </a:t>
            </a:r>
            <a:r>
              <a:rPr lang="en-GB" sz="1800" dirty="0">
                <a:effectLst/>
                <a:latin typeface="MinionPro"/>
              </a:rPr>
              <a:t>attribute specifies the JavaScript instructions that the JavaScript engine executes when the user clicks the button. </a:t>
            </a:r>
          </a:p>
          <a:p>
            <a:r>
              <a:rPr lang="en-GB" sz="1800" dirty="0">
                <a:effectLst/>
                <a:latin typeface="MinionPro"/>
              </a:rPr>
              <a:t>A </a:t>
            </a:r>
            <a:r>
              <a:rPr lang="en-GB" sz="1800" i="1" dirty="0">
                <a:effectLst/>
                <a:latin typeface="MinionPro"/>
              </a:rPr>
              <a:t>JavaScript engine </a:t>
            </a:r>
            <a:r>
              <a:rPr lang="en-GB" sz="1800" dirty="0">
                <a:effectLst/>
                <a:latin typeface="MinionPro"/>
              </a:rPr>
              <a:t>is the part of the browser software that runs a web page’s JavaScript. </a:t>
            </a:r>
          </a:p>
          <a:p>
            <a:r>
              <a:rPr lang="en-GB" sz="1800" dirty="0">
                <a:effectLst/>
                <a:latin typeface="MinionPro"/>
              </a:rPr>
              <a:t>The </a:t>
            </a:r>
            <a:r>
              <a:rPr lang="en-GB" sz="1800" dirty="0">
                <a:effectLst/>
                <a:latin typeface="CourierStd"/>
              </a:rPr>
              <a:t>onclick </a:t>
            </a:r>
            <a:r>
              <a:rPr lang="en-GB" sz="1800" dirty="0">
                <a:effectLst/>
                <a:latin typeface="MinionPro"/>
              </a:rPr>
              <a:t>attribute’s value is JavaScript code that “handles” what’s supposed to happen when the user clicks the button. </a:t>
            </a:r>
          </a:p>
          <a:p>
            <a:r>
              <a:rPr lang="en-GB" sz="1800" dirty="0">
                <a:effectLst/>
                <a:latin typeface="MinionPro"/>
              </a:rPr>
              <a:t>Clicking the button is considered to be an </a:t>
            </a:r>
            <a:r>
              <a:rPr lang="en-GB" sz="1800" i="1" dirty="0">
                <a:effectLst/>
                <a:latin typeface="MinionPro"/>
              </a:rPr>
              <a:t>event</a:t>
            </a:r>
            <a:r>
              <a:rPr lang="en-GB" sz="1800" dirty="0">
                <a:effectLst/>
                <a:latin typeface="MinionPro"/>
              </a:rPr>
              <a:t>, so the </a:t>
            </a:r>
            <a:r>
              <a:rPr lang="en-GB" sz="1800" dirty="0">
                <a:effectLst/>
                <a:latin typeface="CourierStd"/>
              </a:rPr>
              <a:t>onclick </a:t>
            </a:r>
            <a:r>
              <a:rPr lang="en-GB" sz="1800" dirty="0">
                <a:effectLst/>
                <a:latin typeface="MinionPro"/>
              </a:rPr>
              <a:t>attribute’s JavaScript code is known as an </a:t>
            </a:r>
            <a:r>
              <a:rPr lang="en-GB" sz="1800" i="1" dirty="0">
                <a:effectLst/>
                <a:latin typeface="MinionPro"/>
              </a:rPr>
              <a:t>event handler</a:t>
            </a:r>
            <a:r>
              <a:rPr lang="en-GB" sz="1800" dirty="0">
                <a:effectLst/>
                <a:latin typeface="MinionPro"/>
              </a:rPr>
              <a:t>. </a:t>
            </a:r>
          </a:p>
          <a:p>
            <a:r>
              <a:rPr lang="en-GB" sz="1800" dirty="0">
                <a:effectLst/>
                <a:latin typeface="MinionPro"/>
              </a:rPr>
              <a:t>Besides </a:t>
            </a:r>
            <a:r>
              <a:rPr lang="en-GB" sz="1800" dirty="0">
                <a:effectLst/>
                <a:latin typeface="CourierStd"/>
              </a:rPr>
              <a:t>onclick</a:t>
            </a:r>
            <a:r>
              <a:rPr lang="en-GB" sz="1800" dirty="0">
                <a:effectLst/>
                <a:latin typeface="MinionPro"/>
              </a:rPr>
              <a:t>, there are other attributes that call event handlers, like </a:t>
            </a:r>
            <a:r>
              <a:rPr lang="en-GB" sz="1800" dirty="0" err="1">
                <a:effectLst/>
                <a:latin typeface="CourierStd"/>
              </a:rPr>
              <a:t>onfocus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and </a:t>
            </a:r>
            <a:r>
              <a:rPr lang="en-GB" sz="1800" dirty="0">
                <a:effectLst/>
                <a:latin typeface="CourierStd"/>
              </a:rPr>
              <a:t>onload</a:t>
            </a:r>
            <a:r>
              <a:rPr lang="en-GB" sz="1800" dirty="0">
                <a:effectLst/>
                <a:latin typeface="MinionPro"/>
              </a:rPr>
              <a:t>. </a:t>
            </a:r>
            <a:endParaRPr lang="en-GB" dirty="0"/>
          </a:p>
          <a:p>
            <a:r>
              <a:rPr lang="en-GB" sz="1800" dirty="0">
                <a:effectLst/>
                <a:latin typeface="CourierStd"/>
              </a:rPr>
              <a:t>onclick </a:t>
            </a:r>
            <a:r>
              <a:rPr lang="en-GB" sz="1800" dirty="0">
                <a:effectLst/>
                <a:latin typeface="MinionPro"/>
              </a:rPr>
              <a:t>attribute’s value is </a:t>
            </a:r>
            <a:r>
              <a:rPr lang="en-GB" sz="1800" dirty="0" err="1">
                <a:effectLst/>
                <a:latin typeface="CourierStd"/>
              </a:rPr>
              <a:t>displayHello</a:t>
            </a:r>
            <a:r>
              <a:rPr lang="en-GB" sz="1800" dirty="0">
                <a:effectLst/>
                <a:latin typeface="CourierStd"/>
              </a:rPr>
              <a:t>();</a:t>
            </a:r>
            <a:r>
              <a:rPr lang="en-GB" sz="1800" dirty="0">
                <a:effectLst/>
                <a:latin typeface="MinionPro"/>
              </a:rPr>
              <a:t> that calls the </a:t>
            </a:r>
            <a:r>
              <a:rPr lang="en-GB" sz="1800" dirty="0" err="1">
                <a:effectLst/>
                <a:latin typeface="CourierStd"/>
              </a:rPr>
              <a:t>displayHello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function, which is defined in the web page’s </a:t>
            </a:r>
            <a:r>
              <a:rPr lang="en-GB" sz="1800" dirty="0">
                <a:effectLst/>
                <a:latin typeface="CourierStd"/>
              </a:rPr>
              <a:t>script </a:t>
            </a:r>
            <a:r>
              <a:rPr lang="en-GB" sz="1800" dirty="0">
                <a:effectLst/>
                <a:latin typeface="MinionPro"/>
              </a:rPr>
              <a:t>block. 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70974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19ED-EF37-ACF7-F3D8-BF69DBB0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Objects and their properties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CE5531-07C5-529C-17E0-D7C1AD7C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1800" dirty="0" err="1">
                <a:effectLst/>
                <a:latin typeface="CourierStd"/>
              </a:rPr>
              <a:t>getElementById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method retrieves the object associated with the </a:t>
            </a:r>
            <a:r>
              <a:rPr lang="en-GB" sz="1800" dirty="0">
                <a:effectLst/>
                <a:latin typeface="CourierStd"/>
              </a:rPr>
              <a:t>h3 </a:t>
            </a:r>
            <a:r>
              <a:rPr lang="en-GB" sz="1800" dirty="0">
                <a:effectLst/>
                <a:latin typeface="MinionPro"/>
              </a:rPr>
              <a:t>element.</a:t>
            </a:r>
          </a:p>
          <a:p>
            <a:r>
              <a:rPr lang="en-GB" sz="1800" dirty="0">
                <a:effectLst/>
                <a:latin typeface="MinionPro"/>
              </a:rPr>
              <a:t>After </a:t>
            </a:r>
            <a:r>
              <a:rPr lang="en-GB" sz="1800" dirty="0" err="1">
                <a:effectLst/>
                <a:latin typeface="CourierStd"/>
              </a:rPr>
              <a:t>msg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gets the </a:t>
            </a:r>
            <a:r>
              <a:rPr lang="en-GB" sz="1800" dirty="0">
                <a:effectLst/>
                <a:latin typeface="CourierStd"/>
              </a:rPr>
              <a:t>h3 </a:t>
            </a:r>
            <a:r>
              <a:rPr lang="en-GB" sz="1800" dirty="0">
                <a:effectLst/>
                <a:latin typeface="MinionPro"/>
              </a:rPr>
              <a:t>element’s object, that object gets updated with this assignment statement: </a:t>
            </a:r>
            <a:endParaRPr lang="en-GB" sz="1800" dirty="0">
              <a:effectLst/>
              <a:latin typeface="CourierStd"/>
            </a:endParaRPr>
          </a:p>
          <a:p>
            <a:pPr marL="0" indent="0">
              <a:buNone/>
            </a:pPr>
            <a:r>
              <a:rPr lang="en-GB" sz="1800" dirty="0">
                <a:latin typeface="CourierStd"/>
              </a:rPr>
              <a:t>	</a:t>
            </a:r>
            <a:r>
              <a:rPr lang="en-GB" sz="1800" dirty="0" err="1">
                <a:effectLst/>
                <a:latin typeface="CourierStd"/>
              </a:rPr>
              <a:t>msg.outerHTML</a:t>
            </a:r>
            <a:r>
              <a:rPr lang="en-GB" sz="1800" dirty="0">
                <a:effectLst/>
                <a:latin typeface="CourierStd"/>
              </a:rPr>
              <a:t> = "&lt;h1&gt;Hello, world!&lt;/h1&gt;"; </a:t>
            </a:r>
          </a:p>
          <a:p>
            <a:r>
              <a:rPr lang="en-GB" sz="1800" dirty="0">
                <a:effectLst/>
                <a:latin typeface="MinionPro"/>
              </a:rPr>
              <a:t>All element objects have an </a:t>
            </a:r>
            <a:r>
              <a:rPr lang="en-GB" sz="1800" dirty="0" err="1">
                <a:effectLst/>
                <a:latin typeface="CourierStd"/>
              </a:rPr>
              <a:t>outerHTML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property, which stores the element’s code, including the element’s start and end tags. </a:t>
            </a:r>
          </a:p>
          <a:p>
            <a:r>
              <a:rPr lang="en-GB" sz="1800" dirty="0">
                <a:effectLst/>
                <a:latin typeface="MinionPro"/>
              </a:rPr>
              <a:t>Assigning</a:t>
            </a:r>
            <a:r>
              <a:rPr lang="en-GB" sz="1800" dirty="0">
                <a:effectLst/>
                <a:latin typeface="CourierStd"/>
              </a:rPr>
              <a:t>&lt;h1&gt;Hello, world!&lt;/h1&gt; </a:t>
            </a:r>
            <a:r>
              <a:rPr lang="en-GB" sz="1800" dirty="0">
                <a:effectLst/>
                <a:latin typeface="MinionPro"/>
              </a:rPr>
              <a:t>to </a:t>
            </a:r>
            <a:r>
              <a:rPr lang="en-GB" sz="1800" dirty="0" err="1">
                <a:effectLst/>
                <a:latin typeface="CourierStd"/>
              </a:rPr>
              <a:t>msg.outerHTML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causes </a:t>
            </a:r>
            <a:r>
              <a:rPr lang="en-GB" sz="1800" dirty="0" err="1">
                <a:effectLst/>
                <a:latin typeface="CourierStd"/>
              </a:rPr>
              <a:t>msg</a:t>
            </a:r>
            <a:r>
              <a:rPr lang="en-GB" sz="1800" dirty="0" err="1">
                <a:effectLst/>
                <a:latin typeface="MinionPro"/>
              </a:rPr>
              <a:t>’s</a:t>
            </a:r>
            <a:r>
              <a:rPr lang="en-GB" sz="1800" dirty="0">
                <a:effectLst/>
                <a:latin typeface="MinionPro"/>
              </a:rPr>
              <a:t> code to be replaced with </a:t>
            </a:r>
            <a:r>
              <a:rPr lang="en-GB" sz="1800" dirty="0">
                <a:effectLst/>
                <a:latin typeface="CourierStd"/>
              </a:rPr>
              <a:t>&lt;h1&gt;Hello, world!&lt;/h1&gt;</a:t>
            </a:r>
            <a:r>
              <a:rPr lang="en-GB" sz="1800" dirty="0">
                <a:effectLst/>
                <a:latin typeface="MinionPro"/>
              </a:rPr>
              <a:t>. </a:t>
            </a:r>
          </a:p>
          <a:p>
            <a:r>
              <a:rPr lang="en-GB" sz="1800" dirty="0">
                <a:effectLst/>
                <a:latin typeface="MinionPro"/>
              </a:rPr>
              <a:t>the </a:t>
            </a:r>
            <a:r>
              <a:rPr lang="en-GB" sz="1800" dirty="0">
                <a:effectLst/>
                <a:latin typeface="CourierStd"/>
              </a:rPr>
              <a:t>h3 </a:t>
            </a:r>
            <a:r>
              <a:rPr lang="en-GB" sz="1800" dirty="0">
                <a:effectLst/>
                <a:latin typeface="MinionPro"/>
              </a:rPr>
              <a:t>start and end tags get replaced with </a:t>
            </a:r>
            <a:r>
              <a:rPr lang="en-GB" sz="1800" dirty="0">
                <a:effectLst/>
                <a:latin typeface="CourierStd"/>
              </a:rPr>
              <a:t>h1 </a:t>
            </a:r>
            <a:r>
              <a:rPr lang="en-GB" sz="1800" dirty="0">
                <a:effectLst/>
                <a:latin typeface="MinionPro"/>
              </a:rPr>
              <a:t>start and end tags. </a:t>
            </a:r>
          </a:p>
          <a:p>
            <a:r>
              <a:rPr lang="en-GB" sz="1800" dirty="0">
                <a:effectLst/>
                <a:latin typeface="MinionPro"/>
              </a:rPr>
              <a:t>an </a:t>
            </a:r>
            <a:r>
              <a:rPr lang="en-GB" sz="1800" dirty="0" err="1">
                <a:effectLst/>
                <a:latin typeface="CourierStd"/>
              </a:rPr>
              <a:t>innerHTML</a:t>
            </a:r>
            <a:r>
              <a:rPr lang="en-GB" sz="1800" dirty="0">
                <a:effectLst/>
                <a:latin typeface="CourierStd"/>
              </a:rPr>
              <a:t> </a:t>
            </a:r>
            <a:r>
              <a:rPr lang="en-GB" sz="1800" dirty="0">
                <a:effectLst/>
                <a:latin typeface="MinionPro"/>
              </a:rPr>
              <a:t>property accesses the content that’s between the element’s start and end tags, and it does not include the element’s start and end tags.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PK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5551D7B-59ED-2212-94DB-C25C6B7E7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617" y="5399002"/>
            <a:ext cx="55499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2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5743-3E74-EA79-BDE8-1B3BFDB0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Document Object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531E-838D-D704-1657-1C4B525B8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82098"/>
            <a:ext cx="9291215" cy="3450613"/>
          </a:xfrm>
        </p:spPr>
        <p:txBody>
          <a:bodyPr>
            <a:noAutofit/>
          </a:bodyPr>
          <a:lstStyle/>
          <a:p>
            <a:r>
              <a:rPr lang="en-GB" dirty="0">
                <a:effectLst/>
                <a:latin typeface="MinionPro"/>
              </a:rPr>
              <a:t>The term </a:t>
            </a:r>
            <a:r>
              <a:rPr lang="en-GB" i="1" dirty="0">
                <a:solidFill>
                  <a:srgbClr val="C00000"/>
                </a:solidFill>
                <a:effectLst/>
                <a:latin typeface="MinionPro"/>
              </a:rPr>
              <a:t>dynamic HTML</a:t>
            </a:r>
            <a:r>
              <a:rPr lang="en-GB" i="1" dirty="0">
                <a:solidFill>
                  <a:srgbClr val="7030A0"/>
                </a:solidFill>
                <a:effectLst/>
                <a:latin typeface="MinionPro"/>
              </a:rPr>
              <a:t> </a:t>
            </a:r>
            <a:r>
              <a:rPr lang="en-GB" dirty="0">
                <a:effectLst/>
                <a:latin typeface="MinionPro"/>
              </a:rPr>
              <a:t>refers to updating the web page’s content by manipulating the DOM’s nodes.</a:t>
            </a:r>
            <a:endParaRPr lang="en-GB" dirty="0"/>
          </a:p>
          <a:p>
            <a:r>
              <a:rPr lang="en-GB" dirty="0">
                <a:effectLst/>
                <a:latin typeface="MinionPro"/>
              </a:rPr>
              <a:t>The DOM provides different ways to access the nodes in the node tree. Here are three common techniques: 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>
                <a:effectLst/>
                <a:latin typeface="MinionPro"/>
              </a:rPr>
              <a:t>You can retrieve the node tree’s root by using </a:t>
            </a:r>
            <a:r>
              <a:rPr lang="en-GB" dirty="0">
                <a:effectLst/>
                <a:latin typeface="CourierStd"/>
              </a:rPr>
              <a:t>document </a:t>
            </a:r>
            <a:r>
              <a:rPr lang="en-GB" dirty="0">
                <a:effectLst/>
                <a:latin typeface="MinionPro"/>
              </a:rPr>
              <a:t>(for the </a:t>
            </a:r>
            <a:r>
              <a:rPr lang="en-GB" dirty="0">
                <a:effectLst/>
                <a:latin typeface="CourierStd"/>
              </a:rPr>
              <a:t>document </a:t>
            </a:r>
            <a:r>
              <a:rPr lang="en-GB" dirty="0">
                <a:effectLst/>
                <a:latin typeface="MinionPro"/>
              </a:rPr>
              <a:t>object) in your code and then use the root object as a starting point in traversing down the tree. 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  <a:latin typeface="MinionPro"/>
              </a:rPr>
              <a:t>You can retrieve the node that the user just interacted with (e.g. a button that was clicked) and use that node object as a starting point in traversing up or down the tree. 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  <a:latin typeface="MinionPro"/>
              </a:rPr>
              <a:t>You can retrieve a particular element node by calling the </a:t>
            </a:r>
            <a:r>
              <a:rPr lang="en-GB" dirty="0">
                <a:effectLst/>
                <a:latin typeface="CourierStd"/>
              </a:rPr>
              <a:t>document </a:t>
            </a:r>
            <a:r>
              <a:rPr lang="en-GB" dirty="0">
                <a:effectLst/>
                <a:latin typeface="MinionPro"/>
              </a:rPr>
              <a:t>object’s </a:t>
            </a:r>
            <a:r>
              <a:rPr lang="en-GB" dirty="0" err="1">
                <a:effectLst/>
                <a:latin typeface="CourierStd"/>
              </a:rPr>
              <a:t>getElementById</a:t>
            </a:r>
            <a:r>
              <a:rPr lang="en-GB" dirty="0">
                <a:effectLst/>
                <a:latin typeface="CourierStd"/>
              </a:rPr>
              <a:t> </a:t>
            </a:r>
            <a:r>
              <a:rPr lang="en-GB" dirty="0">
                <a:effectLst/>
                <a:latin typeface="MinionPro"/>
              </a:rPr>
              <a:t>method with the element’s </a:t>
            </a:r>
            <a:r>
              <a:rPr lang="en-GB" dirty="0">
                <a:effectLst/>
                <a:latin typeface="CourierStd"/>
              </a:rPr>
              <a:t>id </a:t>
            </a:r>
            <a:r>
              <a:rPr lang="en-GB" dirty="0">
                <a:effectLst/>
                <a:latin typeface="MinionPro"/>
              </a:rPr>
              <a:t>value as an argument.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9060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3D7B-C7E9-DD61-11AF-BE7904BB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f</a:t>
            </a:r>
            <a:r>
              <a:rPr lang="en-PK" i="1" dirty="0"/>
              <a:t>orm</a:t>
            </a:r>
            <a:r>
              <a:rPr lang="en-PK" dirty="0"/>
              <a:t> Element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A7673-F079-45A5-39DD-6E6130A3E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3214" y="1756632"/>
            <a:ext cx="7373953" cy="4409389"/>
          </a:xfrm>
        </p:spPr>
      </p:pic>
    </p:spTree>
    <p:extLst>
      <p:ext uri="{BB962C8B-B14F-4D97-AF65-F5344CB8AC3E}">
        <p14:creationId xmlns:p14="http://schemas.microsoft.com/office/powerpoint/2010/main" val="326432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CD93-54AC-30FA-4061-0074A06F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a Form’s Control Values 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5E8D76-AC4D-C12B-06CC-6F4CB70F8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3561" y="1682492"/>
            <a:ext cx="8104878" cy="4841875"/>
          </a:xfrm>
        </p:spPr>
      </p:pic>
    </p:spTree>
    <p:extLst>
      <p:ext uri="{BB962C8B-B14F-4D97-AF65-F5344CB8AC3E}">
        <p14:creationId xmlns:p14="http://schemas.microsoft.com/office/powerpoint/2010/main" val="184072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44B5-E5F4-81DE-E05E-F2CD0C28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Javascript 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1869-3C76-4050-27E1-DA0EC699C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Form validation is a critical aspect of web development, ensuring that the data users submit is complete, accurate, and formatted properly before it reaches the server. </a:t>
            </a:r>
          </a:p>
          <a:p>
            <a:r>
              <a:rPr lang="en-GB" b="0" i="0" u="none" strike="noStrike" dirty="0">
                <a:effectLst/>
                <a:latin typeface="-webkit-standard"/>
              </a:rPr>
              <a:t>JavaScript plays a key role in client-side form validation, enhancing user experience by providing real-time feedback and reducing server load.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1972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A5F8-08FD-D256-702B-C8883724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Javascript 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B277-6B2B-9595-3A9C-67F5F7BB8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u="none" strike="noStrike" dirty="0">
                <a:effectLst/>
              </a:rPr>
              <a:t>JavaScript form validation involves using scripts in the browser to check input fields in a form for: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Correctness (e.g., valid email format).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Completeness (e.g., required fields are filled).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Logical consistency (e.g., password confirmation matches password).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2699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E814-2F3D-97BF-B489-8D5665E6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F641-E1AC-F16B-92CB-1DC2DEDC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Real-time feedback:</a:t>
            </a:r>
            <a:r>
              <a:rPr lang="en-GB" dirty="0"/>
              <a:t> Users can see errors instantly.</a:t>
            </a:r>
          </a:p>
          <a:p>
            <a:r>
              <a:rPr lang="en-GB" b="1" dirty="0"/>
              <a:t>Reduced server load:</a:t>
            </a:r>
            <a:r>
              <a:rPr lang="en-GB" dirty="0"/>
              <a:t> Invalid data is caught before being sent.</a:t>
            </a:r>
          </a:p>
          <a:p>
            <a:r>
              <a:rPr lang="en-GB" b="1" dirty="0"/>
              <a:t>Enhanced user experience:</a:t>
            </a:r>
            <a:r>
              <a:rPr lang="en-GB" dirty="0"/>
              <a:t> Forms become interactive and intuitive.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2049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B2C0-4851-B806-4294-B6505AEF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Regular Expressions in 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783C-446E-3D4C-E821-B6DF84B8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Regular Expressions (regex) are powerful patterns used to match and validate string data.</a:t>
            </a:r>
          </a:p>
          <a:p>
            <a:r>
              <a:rPr lang="en-GB" b="0" i="0" u="none" strike="noStrike" dirty="0">
                <a:effectLst/>
                <a:latin typeface="-webkit-standard"/>
              </a:rPr>
              <a:t>In JavaScript, they are used extensively for validating input fields like email addresses, phone numbers, and more.</a:t>
            </a:r>
          </a:p>
          <a:p>
            <a:r>
              <a:rPr lang="en-GB" dirty="0" err="1">
                <a:latin typeface="-webkit-standard"/>
              </a:rPr>
              <a:t>const</a:t>
            </a:r>
            <a:r>
              <a:rPr lang="en-GB" dirty="0">
                <a:latin typeface="-webkit-standard"/>
              </a:rPr>
              <a:t> regex = pattern/flags;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16196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EC67-12CE-51A8-4AAD-A8EC7064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Regular Expressions in 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8BDE-D0D3-3A4E-B203-115C3333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b="1" i="0" u="none" strike="noStrike" dirty="0">
                <a:effectLst/>
              </a:rPr>
              <a:t>Examples of common regex patterns:</a:t>
            </a:r>
            <a:endParaRPr lang="en-GB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Email validation</a:t>
            </a:r>
            <a:r>
              <a:rPr lang="en-GB" b="0" i="0" u="none" strike="noStrike" dirty="0">
                <a:effectLst/>
              </a:rPr>
              <a:t>: /^[^\s@]+@[^\s@]+\.[^\s@]+$/</a:t>
            </a:r>
          </a:p>
          <a:p>
            <a:pPr lvl="1"/>
            <a:r>
              <a:rPr lang="en-GB" dirty="0"/>
              <a:t>^ – Start of the string.</a:t>
            </a:r>
          </a:p>
          <a:p>
            <a:pPr lvl="1"/>
            <a:r>
              <a:rPr lang="en-GB" dirty="0"/>
              <a:t>[^\s@]+ One or more characters that are not whitespace (\s) or @.</a:t>
            </a:r>
          </a:p>
          <a:p>
            <a:pPr lvl="1"/>
            <a:r>
              <a:rPr lang="en-GB" dirty="0"/>
              <a:t>@ Literal @ symbol.</a:t>
            </a:r>
          </a:p>
          <a:p>
            <a:pPr lvl="1"/>
            <a:r>
              <a:rPr lang="en-GB" dirty="0"/>
              <a:t>\. A literal dot (.) character (escaped) </a:t>
            </a:r>
            <a:r>
              <a:rPr lang="en-GB"/>
              <a:t>since “.” </a:t>
            </a:r>
            <a:r>
              <a:rPr lang="en-GB" dirty="0"/>
              <a:t>is a regex metacharacter meaning "any character"</a:t>
            </a:r>
          </a:p>
          <a:p>
            <a:pPr lvl="1"/>
            <a:r>
              <a:rPr lang="en-GB" dirty="0"/>
              <a:t>$ End of the string.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98271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EC67-12CE-51A8-4AAD-A8EC7064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Regular Expressions in 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8BDE-D0D3-3A4E-B203-115C3333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291215" cy="403774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Phone number validation</a:t>
            </a:r>
            <a:r>
              <a:rPr lang="en-GB" b="0" i="0" u="none" strike="noStrike" dirty="0">
                <a:effectLst/>
              </a:rPr>
              <a:t>: /^\d{10}$/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Password (minimum 8 characters, with letters and numbers)</a:t>
            </a:r>
            <a:r>
              <a:rPr lang="en-GB" b="0" i="0" u="none" strike="noStrike" dirty="0">
                <a:effectLst/>
              </a:rPr>
              <a:t>: </a:t>
            </a:r>
            <a:endParaRPr lang="en-GB" dirty="0"/>
          </a:p>
          <a:p>
            <a:pPr marL="0" indent="0" algn="l">
              <a:buNone/>
            </a:pPr>
            <a:r>
              <a:rPr lang="en-GB" b="0" i="0" u="none" strike="noStrike" dirty="0">
                <a:effectLst/>
              </a:rPr>
              <a:t>	/^(?=.*[A-Za-z])(?=.*\d)[A-Za-z\d]{8,}$/</a:t>
            </a:r>
          </a:p>
        </p:txBody>
      </p:sp>
    </p:spTree>
    <p:extLst>
      <p:ext uri="{BB962C8B-B14F-4D97-AF65-F5344CB8AC3E}">
        <p14:creationId xmlns:p14="http://schemas.microsoft.com/office/powerpoint/2010/main" val="4147223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ACEB-15CE-F2B1-ABA0-C9F235E0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B05377-BA88-376D-7B8B-D3BF57C21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The method test returns a boolean value that indicates whether or not a pattern exists in a searched string</a:t>
            </a:r>
          </a:p>
          <a:p>
            <a:endParaRPr lang="en-PK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B508D29-C2F4-B3EF-B296-31A4B65F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50" y="3147952"/>
            <a:ext cx="49403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13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357A-E42C-0E3D-F24C-951C3BCD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PK" dirty="0"/>
              <a:t>lient side validation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C645-73CB-C3AF-0C49-2F7BD9936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K" dirty="0"/>
              <a:t>here are two main approaches to client side validation:</a:t>
            </a:r>
          </a:p>
          <a:p>
            <a:pPr marL="457200" indent="-457200">
              <a:buFont typeface="+mj-lt"/>
              <a:buAutoNum type="arabicPeriod"/>
            </a:pPr>
            <a:r>
              <a:rPr lang="en-PK" dirty="0"/>
              <a:t>HTML 5 built in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</a:t>
            </a:r>
            <a:r>
              <a:rPr lang="en-PK" dirty="0"/>
              <a:t>ustom validation with javascript</a:t>
            </a:r>
          </a:p>
        </p:txBody>
      </p:sp>
    </p:spTree>
    <p:extLst>
      <p:ext uri="{BB962C8B-B14F-4D97-AF65-F5344CB8AC3E}">
        <p14:creationId xmlns:p14="http://schemas.microsoft.com/office/powerpoint/2010/main" val="201978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696A-7376-F15A-A3A3-B4A7D86B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</a:t>
            </a:r>
            <a:r>
              <a:rPr lang="en-PK" dirty="0"/>
              <a:t>tml 5 built-in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EB389-E727-5ED3-D43A-E5DE6D7B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Uses attributes like </a:t>
            </a:r>
            <a:r>
              <a:rPr lang="en-GB" b="1" dirty="0"/>
              <a:t>required</a:t>
            </a:r>
            <a:r>
              <a:rPr lang="en-GB" b="0" i="0" u="none" strike="noStrike" dirty="0">
                <a:effectLst/>
                <a:latin typeface="-webkit-standard"/>
              </a:rPr>
              <a:t>, </a:t>
            </a:r>
            <a:r>
              <a:rPr lang="en-GB" b="1" dirty="0" err="1"/>
              <a:t>minlength</a:t>
            </a:r>
            <a:r>
              <a:rPr lang="en-GB" b="0" i="0" u="none" strike="noStrike" dirty="0">
                <a:effectLst/>
                <a:latin typeface="-webkit-standard"/>
              </a:rPr>
              <a:t>, </a:t>
            </a:r>
            <a:r>
              <a:rPr lang="en-GB" b="1" dirty="0" err="1"/>
              <a:t>maxlength</a:t>
            </a:r>
            <a:r>
              <a:rPr lang="en-GB" b="0" i="0" u="none" strike="noStrike" dirty="0">
                <a:effectLst/>
                <a:latin typeface="-webkit-standard"/>
              </a:rPr>
              <a:t>, </a:t>
            </a:r>
            <a:r>
              <a:rPr lang="en-GB" b="1" dirty="0"/>
              <a:t>pattern</a:t>
            </a:r>
            <a:r>
              <a:rPr lang="en-GB" b="0" i="0" u="none" strike="noStrike" dirty="0">
                <a:effectLst/>
                <a:latin typeface="-webkit-standard"/>
              </a:rPr>
              <a:t>, and </a:t>
            </a:r>
            <a:r>
              <a:rPr lang="en-GB" b="1" dirty="0"/>
              <a:t>type</a:t>
            </a:r>
            <a:r>
              <a:rPr lang="en-GB" b="0" i="0" u="none" strike="noStrike" dirty="0">
                <a:effectLst/>
                <a:latin typeface="-webkit-standard"/>
              </a:rPr>
              <a:t>.</a:t>
            </a:r>
          </a:p>
          <a:p>
            <a:r>
              <a:rPr lang="en-GB" b="0" i="0" u="none" strike="noStrike" dirty="0">
                <a:effectLst/>
                <a:latin typeface="-webkit-standard"/>
              </a:rPr>
              <a:t>&lt;</a:t>
            </a:r>
            <a:r>
              <a:rPr lang="en-GB" b="0" i="0" u="none" strike="noStrike" dirty="0">
                <a:effectLst/>
              </a:rPr>
              <a:t>input</a:t>
            </a:r>
            <a:r>
              <a:rPr lang="en-GB" b="0" i="0" u="none" strike="noStrike" dirty="0">
                <a:effectLst/>
                <a:latin typeface="-webkit-standard"/>
              </a:rPr>
              <a:t> </a:t>
            </a:r>
            <a:r>
              <a:rPr lang="en-GB" b="0" i="0" u="none" strike="noStrike" dirty="0">
                <a:effectLst/>
              </a:rPr>
              <a:t>type</a:t>
            </a:r>
            <a:r>
              <a:rPr lang="en-GB" b="0" i="0" u="none" strike="noStrike" dirty="0">
                <a:effectLst/>
                <a:latin typeface="-webkit-standard"/>
              </a:rPr>
              <a:t>=</a:t>
            </a:r>
            <a:r>
              <a:rPr lang="en-GB" b="0" i="0" u="none" strike="noStrike" dirty="0">
                <a:effectLst/>
              </a:rPr>
              <a:t>"email"</a:t>
            </a:r>
            <a:r>
              <a:rPr lang="en-GB" b="0" i="0" u="none" strike="noStrike" dirty="0">
                <a:effectLst/>
                <a:latin typeface="-webkit-standard"/>
              </a:rPr>
              <a:t> </a:t>
            </a:r>
            <a:r>
              <a:rPr lang="en-GB" b="0" i="0" u="none" strike="noStrike" dirty="0">
                <a:effectLst/>
              </a:rPr>
              <a:t>required</a:t>
            </a:r>
            <a:r>
              <a:rPr lang="en-GB" b="0" i="0" u="none" strike="noStrike" dirty="0">
                <a:effectLst/>
                <a:latin typeface="-webkit-standard"/>
              </a:rPr>
              <a:t> /&gt;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21679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9BE019-A614-1E6F-81C8-F7EF9987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938" y="690080"/>
            <a:ext cx="7772400" cy="477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10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35A2-085B-7FC4-14A2-EF1D33ED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PK" dirty="0"/>
              <a:t>ustom validation using javascript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493937-E4A3-C2D1-23F6-9150CDF4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Allows more control and flexibility compared to HTML 5.</a:t>
            </a:r>
          </a:p>
          <a:p>
            <a:endParaRPr lang="en-PK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DED5BE34-0941-D1BF-5B3C-A6A93198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136" y="2603842"/>
            <a:ext cx="7286373" cy="413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7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5969-D123-F0D7-0D1B-B709AD9E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86A3E0-2B5D-7852-5DD6-25169193C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8344" y="2642394"/>
            <a:ext cx="56769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AF92-4103-CDA7-B965-A547CF15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D5BA55-7232-0A1C-8725-970D843B3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5844" y="2648744"/>
            <a:ext cx="7581900" cy="2184400"/>
          </a:xfrm>
        </p:spPr>
      </p:pic>
    </p:spTree>
    <p:extLst>
      <p:ext uri="{BB962C8B-B14F-4D97-AF65-F5344CB8AC3E}">
        <p14:creationId xmlns:p14="http://schemas.microsoft.com/office/powerpoint/2010/main" val="72896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5393-5859-F114-4EB1-4A3A3088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6FBD2-613A-818F-3382-99A88082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Combine Client-side and Server-side Validation</a:t>
            </a:r>
            <a:r>
              <a:rPr lang="en-GB" dirty="0"/>
              <a:t>: Client-side validation enhances user experience, but server-side validation is crucial for security.</a:t>
            </a:r>
          </a:p>
          <a:p>
            <a:r>
              <a:rPr lang="en-GB" b="1" dirty="0"/>
              <a:t>Use Clear Error Messages</a:t>
            </a:r>
            <a:r>
              <a:rPr lang="en-GB" dirty="0"/>
              <a:t>: Help users understand and correct mistakes easily.</a:t>
            </a:r>
          </a:p>
          <a:p>
            <a:r>
              <a:rPr lang="en-GB" b="1" dirty="0"/>
              <a:t>Validate on Form Submit and On-the-Fly</a:t>
            </a:r>
            <a:r>
              <a:rPr lang="en-GB" dirty="0"/>
              <a:t>: Validate as users type and again before submission.</a:t>
            </a:r>
          </a:p>
          <a:p>
            <a:r>
              <a:rPr lang="en-GB" b="1" dirty="0"/>
              <a:t>Prevent Default Actions</a:t>
            </a:r>
            <a:r>
              <a:rPr lang="en-GB" dirty="0"/>
              <a:t>: Use </a:t>
            </a:r>
            <a:r>
              <a:rPr lang="en-GB" dirty="0" err="1"/>
              <a:t>event.preventDefault</a:t>
            </a:r>
            <a:r>
              <a:rPr lang="en-GB" dirty="0"/>
              <a:t>() to stop form submission until all validations pass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746231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ea051-e2e2-453b-9f50-a4e2ec04a1c5">
      <Terms xmlns="http://schemas.microsoft.com/office/infopath/2007/PartnerControls"/>
    </lcf76f155ced4ddcb4097134ff3c332f>
    <TaxCatchAll xmlns="e8e88118-ec11-420b-97ad-3c3d8d42402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2F4B7271E1A4782DF661BFB2A1A89" ma:contentTypeVersion="10" ma:contentTypeDescription="Create a new document." ma:contentTypeScope="" ma:versionID="f222a0066a42d5ea1d99733186c0bccd">
  <xsd:schema xmlns:xsd="http://www.w3.org/2001/XMLSchema" xmlns:xs="http://www.w3.org/2001/XMLSchema" xmlns:p="http://schemas.microsoft.com/office/2006/metadata/properties" xmlns:ns2="468ea051-e2e2-453b-9f50-a4e2ec04a1c5" xmlns:ns3="e8e88118-ec11-420b-97ad-3c3d8d424028" targetNamespace="http://schemas.microsoft.com/office/2006/metadata/properties" ma:root="true" ma:fieldsID="30999897b4192772d10c9a278254d188" ns2:_="" ns3:_="">
    <xsd:import namespace="468ea051-e2e2-453b-9f50-a4e2ec04a1c5"/>
    <xsd:import namespace="e8e88118-ec11-420b-97ad-3c3d8d4240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ea051-e2e2-453b-9f50-a4e2ec04a1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982d53a-bb51-487e-8db8-b606b23a34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88118-ec11-420b-97ad-3c3d8d4240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d58e645-d968-419e-9ec7-8a5d84dc1e42}" ma:internalName="TaxCatchAll" ma:showField="CatchAllData" ma:web="e8e88118-ec11-420b-97ad-3c3d8d4240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49A4C9-14D9-4983-ABFE-3237BF6C7619}">
  <ds:schemaRefs>
    <ds:schemaRef ds:uri="http://schemas.microsoft.com/office/2006/metadata/properties"/>
    <ds:schemaRef ds:uri="http://schemas.microsoft.com/office/infopath/2007/PartnerControls"/>
    <ds:schemaRef ds:uri="468ea051-e2e2-453b-9f50-a4e2ec04a1c5"/>
    <ds:schemaRef ds:uri="e8e88118-ec11-420b-97ad-3c3d8d424028"/>
  </ds:schemaRefs>
</ds:datastoreItem>
</file>

<file path=customXml/itemProps2.xml><?xml version="1.0" encoding="utf-8"?>
<ds:datastoreItem xmlns:ds="http://schemas.openxmlformats.org/officeDocument/2006/customXml" ds:itemID="{20213D5A-1053-43CE-9D1D-DE9495FCBE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C96685-A3DB-4D8B-AAAC-3A79CFB888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ea051-e2e2-453b-9f50-a4e2ec04a1c5"/>
    <ds:schemaRef ds:uri="e8e88118-ec11-420b-97ad-3c3d8d4240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{597D4D5C-5E18-0D4A-BC53-977230738255}tf10001119</Template>
  <TotalTime>6773</TotalTime>
  <Words>1255</Words>
  <Application>Microsoft Office PowerPoint</Application>
  <PresentationFormat>Widescreen</PresentationFormat>
  <Paragraphs>105</Paragraphs>
  <Slides>23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Gallery</vt:lpstr>
      <vt:lpstr>Topics in Cybersecurity</vt:lpstr>
      <vt:lpstr>Document Object Model</vt:lpstr>
      <vt:lpstr>Hello World</vt:lpstr>
      <vt:lpstr>Changing HTML content</vt:lpstr>
      <vt:lpstr>Hello World</vt:lpstr>
      <vt:lpstr>Objects and their properties</vt:lpstr>
      <vt:lpstr>Document Object Model</vt:lpstr>
      <vt:lpstr>form Element</vt:lpstr>
      <vt:lpstr>Accessing a Form’s Control Values </vt:lpstr>
      <vt:lpstr>Javascript Form Validation</vt:lpstr>
      <vt:lpstr>Javascript Form Validation</vt:lpstr>
      <vt:lpstr>benefits</vt:lpstr>
      <vt:lpstr>Regular Expressions in form validation</vt:lpstr>
      <vt:lpstr>Regular Expressions in form validation</vt:lpstr>
      <vt:lpstr>Regular Expressions in form validation</vt:lpstr>
      <vt:lpstr>example</vt:lpstr>
      <vt:lpstr>Client side validation approaches</vt:lpstr>
      <vt:lpstr>Html 5 built-in validation</vt:lpstr>
      <vt:lpstr>PowerPoint Presentation</vt:lpstr>
      <vt:lpstr>Custom validation using javascript</vt:lpstr>
      <vt:lpstr>PowerPoint Presentation</vt:lpstr>
      <vt:lpstr>PowerPoint Presentation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Najla</dc:creator>
  <cp:lastModifiedBy>Najla</cp:lastModifiedBy>
  <cp:revision>123</cp:revision>
  <dcterms:created xsi:type="dcterms:W3CDTF">2024-10-26T19:43:47Z</dcterms:created>
  <dcterms:modified xsi:type="dcterms:W3CDTF">2026-04-14T08:21:24Z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0x0101004242F4B7271E1A4782DF661BFB2A1A89</vt:lpwstr>
  </property>
</Properties>
</file>